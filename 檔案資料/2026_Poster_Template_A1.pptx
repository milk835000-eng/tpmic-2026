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21388388" cy="30275213"/>
  <p:notesSz cx="30275213" cy="213883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ster" id="{8F3B346C-6C51-0C20-6D41-C135013ACEF5}">
          <p14:sldIdLst>
            <p14:sldId id="256"/>
          </p14:sldIdLst>
        </p14:section>
        <p14:section name="Guide" id="{872F5ECE-9182-640F-997B-547645460AE9}">
          <p14:sldIdLst>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0" d="100"/>
          <a:sy n="40" d="100"/>
        </p:scale>
        <p:origin x="113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4065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A1 poster template (594 x 841 mm, portrait) for the 2026 FEMH TPMIC symposium. Replace all example text, keep the symposium line and slide size unchanged, and export to PDF for printing.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Header background"/>
          <p:cNvSpPr/>
          <p:nvPr/>
        </p:nvSpPr>
        <p:spPr>
          <a:xfrm>
            <a:off x="0" y="0"/>
            <a:ext cx="21387816" cy="5943600"/>
          </a:xfrm>
          <a:prstGeom prst="rect">
            <a:avLst/>
          </a:prstGeom>
          <a:solidFill>
            <a:schemeClr val="accent1"/>
          </a:solidFill>
          <a:ln/>
        </p:spPr>
        <p:txBody>
          <a:bodyPr/>
          <a:lstStyle/>
          <a:p>
            <a:endParaRPr lang="zh-TW" altLang="en-US"/>
          </a:p>
        </p:txBody>
      </p:sp>
      <p:sp>
        <p:nvSpPr>
          <p:cNvPr id="3" name="Institution logo"/>
          <p:cNvSpPr/>
          <p:nvPr/>
        </p:nvSpPr>
        <p:spPr>
          <a:xfrm>
            <a:off x="731520" y="1097280"/>
            <a:ext cx="2377440" cy="2377440"/>
          </a:xfrm>
          <a:prstGeom prst="roundRect">
            <a:avLst>
              <a:gd name="adj" fmla="val 5769"/>
            </a:avLst>
          </a:prstGeom>
          <a:solidFill>
            <a:schemeClr val="bg1"/>
          </a:solidFill>
          <a:ln/>
        </p:spPr>
        <p:txBody>
          <a:bodyPr/>
          <a:lstStyle/>
          <a:p>
            <a:endParaRPr lang="zh-TW" altLang="en-US"/>
          </a:p>
        </p:txBody>
      </p:sp>
      <p:sp>
        <p:nvSpPr>
          <p:cNvPr id="4" name="Institution logo text"/>
          <p:cNvSpPr txBox="1"/>
          <p:nvPr/>
        </p:nvSpPr>
        <p:spPr>
          <a:xfrm>
            <a:off x="731520" y="1097280"/>
            <a:ext cx="2377440" cy="2377440"/>
          </a:xfrm>
          <a:prstGeom prst="rect">
            <a:avLst/>
          </a:prstGeom>
          <a:noFill/>
          <a:ln/>
        </p:spPr>
        <p:txBody>
          <a:bodyPr wrap="square" rtlCol="0" anchor="ctr"/>
          <a:lstStyle/>
          <a:p>
            <a:pPr marL="0" indent="0" algn="ctr">
              <a:buNone/>
            </a:pPr>
            <a:r>
              <a:rPr lang="en-US" sz="2000" dirty="0">
                <a:solidFill>
                  <a:schemeClr val="accent4"/>
                </a:solidFill>
              </a:rPr>
              <a:t>Institution logo</a:t>
            </a:r>
            <a:r>
              <a:rPr lang="zh-TW" altLang="en-US" sz="2000" dirty="0">
                <a:solidFill>
                  <a:schemeClr val="accent4"/>
                </a:solidFill>
              </a:rPr>
              <a:t> </a:t>
            </a:r>
            <a:r>
              <a:rPr lang="en-US" altLang="zh-TW" sz="2000" dirty="0">
                <a:solidFill>
                  <a:schemeClr val="accent4"/>
                </a:solidFill>
              </a:rPr>
              <a:t>(1)</a:t>
            </a:r>
            <a:endParaRPr lang="en-US" sz="2000" dirty="0"/>
          </a:p>
        </p:txBody>
      </p:sp>
      <p:sp>
        <p:nvSpPr>
          <p:cNvPr id="5" name="Institution logo "/>
          <p:cNvSpPr/>
          <p:nvPr/>
        </p:nvSpPr>
        <p:spPr>
          <a:xfrm>
            <a:off x="18278856" y="1097280"/>
            <a:ext cx="2377440" cy="2377440"/>
          </a:xfrm>
          <a:prstGeom prst="roundRect">
            <a:avLst>
              <a:gd name="adj" fmla="val 5769"/>
            </a:avLst>
          </a:prstGeom>
          <a:solidFill>
            <a:schemeClr val="bg1"/>
          </a:solidFill>
          <a:ln/>
        </p:spPr>
        <p:txBody>
          <a:bodyPr/>
          <a:lstStyle/>
          <a:p>
            <a:endParaRPr lang="zh-TW" altLang="en-US"/>
          </a:p>
        </p:txBody>
      </p:sp>
      <p:sp>
        <p:nvSpPr>
          <p:cNvPr id="6" name="Institution logo  text"/>
          <p:cNvSpPr txBox="1"/>
          <p:nvPr/>
        </p:nvSpPr>
        <p:spPr>
          <a:xfrm>
            <a:off x="18278856" y="1097280"/>
            <a:ext cx="2377440" cy="2377440"/>
          </a:xfrm>
          <a:prstGeom prst="rect">
            <a:avLst/>
          </a:prstGeom>
          <a:noFill/>
          <a:ln/>
        </p:spPr>
        <p:txBody>
          <a:bodyPr wrap="square" rtlCol="0" anchor="ctr"/>
          <a:lstStyle/>
          <a:p>
            <a:pPr marL="0" indent="0" algn="ctr">
              <a:buNone/>
            </a:pPr>
            <a:r>
              <a:rPr lang="en-US" sz="2000" dirty="0">
                <a:solidFill>
                  <a:schemeClr val="accent4"/>
                </a:solidFill>
              </a:rPr>
              <a:t>Institution logo</a:t>
            </a:r>
            <a:r>
              <a:rPr lang="zh-TW" altLang="en-US" sz="2000" dirty="0">
                <a:solidFill>
                  <a:schemeClr val="accent4"/>
                </a:solidFill>
              </a:rPr>
              <a:t> </a:t>
            </a:r>
            <a:r>
              <a:rPr lang="en-US" altLang="zh-TW" sz="2000" dirty="0">
                <a:solidFill>
                  <a:schemeClr val="accent4"/>
                </a:solidFill>
              </a:rPr>
              <a:t>(2)</a:t>
            </a:r>
            <a:r>
              <a:rPr lang="en-US" sz="2000" dirty="0">
                <a:solidFill>
                  <a:schemeClr val="accent4"/>
                </a:solidFill>
              </a:rPr>
              <a:t> </a:t>
            </a:r>
            <a:endParaRPr lang="en-US" sz="2000" dirty="0"/>
          </a:p>
        </p:txBody>
      </p:sp>
      <p:sp>
        <p:nvSpPr>
          <p:cNvPr id="7" name="Symposium line"/>
          <p:cNvSpPr txBox="1"/>
          <p:nvPr/>
        </p:nvSpPr>
        <p:spPr>
          <a:xfrm>
            <a:off x="1463040" y="182880"/>
            <a:ext cx="17913096" cy="502920"/>
          </a:xfrm>
          <a:prstGeom prst="rect">
            <a:avLst/>
          </a:prstGeom>
          <a:noFill/>
          <a:ln/>
        </p:spPr>
        <p:txBody>
          <a:bodyPr wrap="square" lIns="0" tIns="0" rIns="0" bIns="0" rtlCol="0" anchor="ctr"/>
          <a:lstStyle/>
          <a:p>
            <a:pPr marL="0" indent="0" algn="ctr">
              <a:buNone/>
            </a:pPr>
            <a:r>
              <a:rPr lang="en-US" sz="2800" dirty="0">
                <a:solidFill>
                  <a:schemeClr val="accent5"/>
                </a:solidFill>
              </a:rPr>
              <a:t>2026 FEMH 6th International Symposium on Health Management and TPMIC Research  |  November 14, 2026</a:t>
            </a:r>
            <a:endParaRPr lang="en-US" sz="2800" dirty="0"/>
          </a:p>
        </p:txBody>
      </p:sp>
      <p:sp>
        <p:nvSpPr>
          <p:cNvPr id="8" name="Poster title"/>
          <p:cNvSpPr txBox="1"/>
          <p:nvPr/>
        </p:nvSpPr>
        <p:spPr>
          <a:xfrm>
            <a:off x="3474720" y="1051560"/>
            <a:ext cx="14438376" cy="2103120"/>
          </a:xfrm>
          <a:prstGeom prst="rect">
            <a:avLst/>
          </a:prstGeom>
          <a:noFill/>
          <a:ln/>
        </p:spPr>
        <p:txBody>
          <a:bodyPr wrap="square" lIns="0" tIns="0" rIns="0" bIns="0" rtlCol="0" anchor="ctr"/>
          <a:lstStyle/>
          <a:p>
            <a:pPr marL="0" indent="0" algn="ctr">
              <a:buNone/>
            </a:pPr>
            <a:r>
              <a:rPr lang="en-US" sz="6000" b="1" dirty="0">
                <a:solidFill>
                  <a:schemeClr val="bg1"/>
                </a:solidFill>
              </a:rPr>
              <a:t>Poster Title in Sentence Case: Keep It Concise and Within Two Lines</a:t>
            </a:r>
            <a:endParaRPr lang="en-US" sz="6000" dirty="0"/>
          </a:p>
        </p:txBody>
      </p:sp>
      <p:sp>
        <p:nvSpPr>
          <p:cNvPr id="9" name="Authors"/>
          <p:cNvSpPr txBox="1"/>
          <p:nvPr/>
        </p:nvSpPr>
        <p:spPr>
          <a:xfrm>
            <a:off x="3474720" y="3291840"/>
            <a:ext cx="14438376" cy="594360"/>
          </a:xfrm>
          <a:prstGeom prst="rect">
            <a:avLst/>
          </a:prstGeom>
          <a:noFill/>
          <a:ln/>
        </p:spPr>
        <p:txBody>
          <a:bodyPr wrap="square" lIns="0" tIns="0" rIns="0" bIns="0" rtlCol="0" anchor="ctr"/>
          <a:lstStyle/>
          <a:p>
            <a:pPr marL="0" indent="0" algn="ctr">
              <a:buNone/>
            </a:pPr>
            <a:r>
              <a:rPr lang="en-US" sz="3000" u="sng" dirty="0">
                <a:solidFill>
                  <a:schemeClr val="bg1"/>
                </a:solidFill>
              </a:rPr>
              <a:t>First A. Author</a:t>
            </a:r>
            <a:r>
              <a:rPr lang="en-US" sz="3000" dirty="0">
                <a:solidFill>
                  <a:schemeClr val="bg1"/>
                </a:solidFill>
              </a:rPr>
              <a:t>¹, Second B. Author², Third C. Author¹,²*</a:t>
            </a:r>
            <a:endParaRPr lang="en-US" sz="3000" dirty="0"/>
          </a:p>
        </p:txBody>
      </p:sp>
      <p:sp>
        <p:nvSpPr>
          <p:cNvPr id="10" name="Affiliations"/>
          <p:cNvSpPr txBox="1"/>
          <p:nvPr/>
        </p:nvSpPr>
        <p:spPr>
          <a:xfrm>
            <a:off x="3474720" y="3931920"/>
            <a:ext cx="14438376" cy="822960"/>
          </a:xfrm>
          <a:prstGeom prst="rect">
            <a:avLst/>
          </a:prstGeom>
          <a:noFill/>
          <a:ln/>
        </p:spPr>
        <p:txBody>
          <a:bodyPr wrap="square" lIns="0" tIns="0" rIns="0" bIns="0" rtlCol="0" anchor="t"/>
          <a:lstStyle/>
          <a:p>
            <a:pPr marL="0" indent="0" algn="ctr">
              <a:buNone/>
            </a:pPr>
            <a:r>
              <a:rPr lang="en-US" sz="2200" dirty="0">
                <a:solidFill>
                  <a:schemeClr val="accent5"/>
                </a:solidFill>
              </a:rPr>
              <a:t>¹ Department, Institution, City, Country   ² Department, Institution, City, Country   * Corresponding author</a:t>
            </a:r>
            <a:endParaRPr lang="en-US" sz="2200" dirty="0"/>
          </a:p>
        </p:txBody>
      </p:sp>
      <p:sp>
        <p:nvSpPr>
          <p:cNvPr id="11" name="Category tag"/>
          <p:cNvSpPr/>
          <p:nvPr/>
        </p:nvSpPr>
        <p:spPr>
          <a:xfrm>
            <a:off x="731520" y="4983480"/>
            <a:ext cx="9688068" cy="640080"/>
          </a:xfrm>
          <a:prstGeom prst="roundRect">
            <a:avLst>
              <a:gd name="adj" fmla="val 50000"/>
            </a:avLst>
          </a:prstGeom>
          <a:solidFill>
            <a:schemeClr val="accent2"/>
          </a:solidFill>
          <a:ln/>
        </p:spPr>
        <p:txBody>
          <a:bodyPr/>
          <a:lstStyle/>
          <a:p>
            <a:endParaRPr lang="zh-TW" altLang="en-US"/>
          </a:p>
        </p:txBody>
      </p:sp>
      <p:sp>
        <p:nvSpPr>
          <p:cNvPr id="12" name="Category text"/>
          <p:cNvSpPr txBox="1"/>
          <p:nvPr/>
        </p:nvSpPr>
        <p:spPr>
          <a:xfrm>
            <a:off x="1005840" y="4983480"/>
            <a:ext cx="9413748" cy="640080"/>
          </a:xfrm>
          <a:prstGeom prst="rect">
            <a:avLst/>
          </a:prstGeom>
          <a:noFill/>
          <a:ln/>
        </p:spPr>
        <p:txBody>
          <a:bodyPr wrap="square" lIns="0" tIns="0" rIns="0" bIns="0" rtlCol="0" anchor="ctr"/>
          <a:lstStyle/>
          <a:p>
            <a:pPr marL="0" indent="0">
              <a:buNone/>
            </a:pPr>
            <a:r>
              <a:rPr lang="en-US" sz="2400" b="1" dirty="0">
                <a:solidFill>
                  <a:schemeClr val="bg1">
                    <a:lumMod val="95000"/>
                  </a:schemeClr>
                </a:solidFill>
              </a:rPr>
              <a:t>Poster category: Brain Health and Dementia Prevention</a:t>
            </a:r>
            <a:endParaRPr lang="en-US" sz="2400" dirty="0">
              <a:solidFill>
                <a:schemeClr val="bg1">
                  <a:lumMod val="95000"/>
                </a:schemeClr>
              </a:solidFill>
            </a:endParaRPr>
          </a:p>
        </p:txBody>
      </p:sp>
      <p:sp>
        <p:nvSpPr>
          <p:cNvPr id="13" name="Poster No."/>
          <p:cNvSpPr txBox="1"/>
          <p:nvPr/>
        </p:nvSpPr>
        <p:spPr>
          <a:xfrm>
            <a:off x="16084296" y="4983480"/>
            <a:ext cx="4572000" cy="640080"/>
          </a:xfrm>
          <a:prstGeom prst="rect">
            <a:avLst/>
          </a:prstGeom>
          <a:noFill/>
          <a:ln/>
        </p:spPr>
        <p:txBody>
          <a:bodyPr wrap="square" lIns="0" tIns="0" rIns="0" bIns="0" rtlCol="0" anchor="ctr"/>
          <a:lstStyle/>
          <a:p>
            <a:pPr marL="0" indent="0" algn="r">
              <a:buNone/>
            </a:pPr>
            <a:r>
              <a:rPr lang="en-US" sz="2200" b="1" dirty="0">
                <a:solidFill>
                  <a:schemeClr val="accent5"/>
                </a:solidFill>
              </a:rPr>
              <a:t>Poster No.: P-00</a:t>
            </a:r>
            <a:endParaRPr lang="en-US" sz="2200" dirty="0"/>
          </a:p>
        </p:txBody>
      </p:sp>
      <p:sp>
        <p:nvSpPr>
          <p:cNvPr id="14" name="Background card"/>
          <p:cNvSpPr/>
          <p:nvPr/>
        </p:nvSpPr>
        <p:spPr>
          <a:xfrm>
            <a:off x="731520" y="6400800"/>
            <a:ext cx="9688068" cy="4937760"/>
          </a:xfrm>
          <a:prstGeom prst="roundRect">
            <a:avLst>
              <a:gd name="adj" fmla="val 3704"/>
            </a:avLst>
          </a:prstGeom>
          <a:solidFill>
            <a:schemeClr val="bg2"/>
          </a:solidFill>
          <a:ln/>
        </p:spPr>
        <p:txBody>
          <a:bodyPr/>
          <a:lstStyle/>
          <a:p>
            <a:endParaRPr lang="zh-TW" altLang="en-US"/>
          </a:p>
        </p:txBody>
      </p:sp>
      <p:sp>
        <p:nvSpPr>
          <p:cNvPr id="15" name="Background marker"/>
          <p:cNvSpPr/>
          <p:nvPr/>
        </p:nvSpPr>
        <p:spPr>
          <a:xfrm>
            <a:off x="1143000" y="6784848"/>
            <a:ext cx="384048" cy="384048"/>
          </a:xfrm>
          <a:prstGeom prst="ellipse">
            <a:avLst/>
          </a:prstGeom>
          <a:solidFill>
            <a:schemeClr val="accent2"/>
          </a:solidFill>
          <a:ln/>
        </p:spPr>
        <p:txBody>
          <a:bodyPr/>
          <a:lstStyle/>
          <a:p>
            <a:endParaRPr lang="zh-TW" altLang="en-US"/>
          </a:p>
        </p:txBody>
      </p:sp>
      <p:sp>
        <p:nvSpPr>
          <p:cNvPr id="16" name="Background heading"/>
          <p:cNvSpPr txBox="1"/>
          <p:nvPr/>
        </p:nvSpPr>
        <p:spPr>
          <a:xfrm>
            <a:off x="1737360" y="6629400"/>
            <a:ext cx="8316468" cy="731520"/>
          </a:xfrm>
          <a:prstGeom prst="rect">
            <a:avLst/>
          </a:prstGeom>
          <a:noFill/>
          <a:ln/>
        </p:spPr>
        <p:txBody>
          <a:bodyPr wrap="square" lIns="0" tIns="0" rIns="0" bIns="0" rtlCol="0" anchor="ctr"/>
          <a:lstStyle/>
          <a:p>
            <a:pPr marL="0" indent="0">
              <a:buNone/>
            </a:pPr>
            <a:r>
              <a:rPr lang="en-US" sz="4000" b="1" dirty="0">
                <a:solidFill>
                  <a:schemeClr val="accent1"/>
                </a:solidFill>
              </a:rPr>
              <a:t>Background</a:t>
            </a:r>
            <a:endParaRPr lang="en-US" sz="4000" dirty="0"/>
          </a:p>
        </p:txBody>
      </p:sp>
      <p:sp>
        <p:nvSpPr>
          <p:cNvPr id="17" name="Background text"/>
          <p:cNvSpPr txBox="1"/>
          <p:nvPr/>
        </p:nvSpPr>
        <p:spPr>
          <a:xfrm>
            <a:off x="1280160" y="7589520"/>
            <a:ext cx="8590788" cy="3474720"/>
          </a:xfrm>
          <a:prstGeom prst="rect">
            <a:avLst/>
          </a:prstGeom>
          <a:noFill/>
          <a:ln/>
        </p:spPr>
        <p:txBody>
          <a:bodyPr wrap="square" lIns="0" tIns="0" rIns="0" bIns="0" rtlCol="0" anchor="t"/>
          <a:lstStyle/>
          <a:p>
            <a:pPr marL="0" indent="0">
              <a:spcAft>
                <a:spcPts val="800"/>
              </a:spcAft>
              <a:buNone/>
            </a:pPr>
            <a:r>
              <a:rPr lang="en-US" sz="2600" dirty="0">
                <a:solidFill>
                  <a:schemeClr val="tx1"/>
                </a:solidFill>
              </a:rPr>
              <a:t>Briefly describe the research context and the knowledge gap that motivates this study. Cite key prior evidence in one or two sentences, then state why the question matters. </a:t>
            </a:r>
            <a:endParaRPr lang="en-US" sz="2600" dirty="0"/>
          </a:p>
        </p:txBody>
      </p:sp>
      <p:sp>
        <p:nvSpPr>
          <p:cNvPr id="18" name="Objective card"/>
          <p:cNvSpPr/>
          <p:nvPr/>
        </p:nvSpPr>
        <p:spPr>
          <a:xfrm>
            <a:off x="731520" y="11795760"/>
            <a:ext cx="9688068" cy="3108960"/>
          </a:xfrm>
          <a:prstGeom prst="roundRect">
            <a:avLst>
              <a:gd name="adj" fmla="val 5882"/>
            </a:avLst>
          </a:prstGeom>
          <a:solidFill>
            <a:schemeClr val="bg2"/>
          </a:solidFill>
          <a:ln/>
        </p:spPr>
        <p:txBody>
          <a:bodyPr/>
          <a:lstStyle/>
          <a:p>
            <a:endParaRPr lang="zh-TW" altLang="en-US"/>
          </a:p>
        </p:txBody>
      </p:sp>
      <p:sp>
        <p:nvSpPr>
          <p:cNvPr id="19" name="Objective marker"/>
          <p:cNvSpPr/>
          <p:nvPr/>
        </p:nvSpPr>
        <p:spPr>
          <a:xfrm>
            <a:off x="1143000" y="12179808"/>
            <a:ext cx="384048" cy="384048"/>
          </a:xfrm>
          <a:prstGeom prst="ellipse">
            <a:avLst/>
          </a:prstGeom>
          <a:solidFill>
            <a:schemeClr val="accent2"/>
          </a:solidFill>
          <a:ln/>
        </p:spPr>
        <p:txBody>
          <a:bodyPr/>
          <a:lstStyle/>
          <a:p>
            <a:endParaRPr lang="zh-TW" altLang="en-US"/>
          </a:p>
        </p:txBody>
      </p:sp>
      <p:sp>
        <p:nvSpPr>
          <p:cNvPr id="20" name="Objective heading"/>
          <p:cNvSpPr txBox="1"/>
          <p:nvPr/>
        </p:nvSpPr>
        <p:spPr>
          <a:xfrm>
            <a:off x="1737360" y="12024360"/>
            <a:ext cx="8316468" cy="731520"/>
          </a:xfrm>
          <a:prstGeom prst="rect">
            <a:avLst/>
          </a:prstGeom>
          <a:noFill/>
          <a:ln/>
        </p:spPr>
        <p:txBody>
          <a:bodyPr wrap="square" lIns="0" tIns="0" rIns="0" bIns="0" rtlCol="0" anchor="ctr"/>
          <a:lstStyle/>
          <a:p>
            <a:pPr marL="0" indent="0">
              <a:buNone/>
            </a:pPr>
            <a:r>
              <a:rPr lang="en-US" sz="4000" b="1" dirty="0">
                <a:solidFill>
                  <a:schemeClr val="accent1"/>
                </a:solidFill>
              </a:rPr>
              <a:t>Objective</a:t>
            </a:r>
            <a:endParaRPr lang="en-US" sz="4000" dirty="0"/>
          </a:p>
        </p:txBody>
      </p:sp>
      <p:sp>
        <p:nvSpPr>
          <p:cNvPr id="21" name="Objective text"/>
          <p:cNvSpPr txBox="1"/>
          <p:nvPr/>
        </p:nvSpPr>
        <p:spPr>
          <a:xfrm>
            <a:off x="1280160" y="12984480"/>
            <a:ext cx="8590788" cy="1645920"/>
          </a:xfrm>
          <a:prstGeom prst="rect">
            <a:avLst/>
          </a:prstGeom>
          <a:noFill/>
          <a:ln/>
        </p:spPr>
        <p:txBody>
          <a:bodyPr wrap="square" lIns="0" tIns="0" rIns="0" bIns="0" rtlCol="0" anchor="t"/>
          <a:lstStyle/>
          <a:p>
            <a:pPr marL="0" indent="0">
              <a:spcAft>
                <a:spcPts val="800"/>
              </a:spcAft>
              <a:buNone/>
            </a:pPr>
            <a:r>
              <a:rPr lang="en-US" sz="2600" dirty="0">
                <a:solidFill>
                  <a:schemeClr val="tx1"/>
                </a:solidFill>
              </a:rPr>
              <a:t>State the main aim in one or two sentences. If relevant, include the primary hypothesis.</a:t>
            </a:r>
            <a:endParaRPr lang="en-US" sz="2600" dirty="0"/>
          </a:p>
        </p:txBody>
      </p:sp>
      <p:sp>
        <p:nvSpPr>
          <p:cNvPr id="22" name="Methods card"/>
          <p:cNvSpPr/>
          <p:nvPr/>
        </p:nvSpPr>
        <p:spPr>
          <a:xfrm>
            <a:off x="731520" y="15361920"/>
            <a:ext cx="9688068" cy="13350240"/>
          </a:xfrm>
          <a:prstGeom prst="roundRect">
            <a:avLst>
              <a:gd name="adj" fmla="val 1888"/>
            </a:avLst>
          </a:prstGeom>
          <a:solidFill>
            <a:schemeClr val="bg2"/>
          </a:solidFill>
          <a:ln/>
        </p:spPr>
        <p:txBody>
          <a:bodyPr/>
          <a:lstStyle/>
          <a:p>
            <a:endParaRPr lang="zh-TW" altLang="en-US"/>
          </a:p>
        </p:txBody>
      </p:sp>
      <p:sp>
        <p:nvSpPr>
          <p:cNvPr id="23" name="Methods marker"/>
          <p:cNvSpPr/>
          <p:nvPr/>
        </p:nvSpPr>
        <p:spPr>
          <a:xfrm>
            <a:off x="1143000" y="15745968"/>
            <a:ext cx="384048" cy="384048"/>
          </a:xfrm>
          <a:prstGeom prst="ellipse">
            <a:avLst/>
          </a:prstGeom>
          <a:solidFill>
            <a:schemeClr val="accent2"/>
          </a:solidFill>
          <a:ln/>
        </p:spPr>
        <p:txBody>
          <a:bodyPr/>
          <a:lstStyle/>
          <a:p>
            <a:endParaRPr lang="zh-TW" altLang="en-US"/>
          </a:p>
        </p:txBody>
      </p:sp>
      <p:sp>
        <p:nvSpPr>
          <p:cNvPr id="24" name="Methods heading"/>
          <p:cNvSpPr txBox="1"/>
          <p:nvPr/>
        </p:nvSpPr>
        <p:spPr>
          <a:xfrm>
            <a:off x="1737360" y="15590520"/>
            <a:ext cx="8316468" cy="731520"/>
          </a:xfrm>
          <a:prstGeom prst="rect">
            <a:avLst/>
          </a:prstGeom>
          <a:noFill/>
          <a:ln/>
        </p:spPr>
        <p:txBody>
          <a:bodyPr wrap="square" lIns="0" tIns="0" rIns="0" bIns="0" rtlCol="0" anchor="ctr"/>
          <a:lstStyle/>
          <a:p>
            <a:pPr marL="0" indent="0">
              <a:buNone/>
            </a:pPr>
            <a:r>
              <a:rPr lang="en-US" sz="4000" b="1" dirty="0">
                <a:solidFill>
                  <a:schemeClr val="accent1"/>
                </a:solidFill>
              </a:rPr>
              <a:t>Methods</a:t>
            </a:r>
            <a:endParaRPr lang="en-US" sz="4000" dirty="0"/>
          </a:p>
        </p:txBody>
      </p:sp>
      <p:sp>
        <p:nvSpPr>
          <p:cNvPr id="25" name="Methods text"/>
          <p:cNvSpPr txBox="1"/>
          <p:nvPr/>
        </p:nvSpPr>
        <p:spPr>
          <a:xfrm>
            <a:off x="1280160" y="16550640"/>
            <a:ext cx="8590788" cy="3657600"/>
          </a:xfrm>
          <a:prstGeom prst="rect">
            <a:avLst/>
          </a:prstGeom>
          <a:noFill/>
          <a:ln/>
        </p:spPr>
        <p:txBody>
          <a:bodyPr wrap="square" lIns="0" tIns="0" rIns="0" bIns="0" rtlCol="0" anchor="t"/>
          <a:lstStyle/>
          <a:p>
            <a:pPr marL="304800" indent="-304800">
              <a:spcAft>
                <a:spcPts val="800"/>
              </a:spcAft>
              <a:buSzPct val="100000"/>
              <a:buChar char="•"/>
            </a:pPr>
            <a:r>
              <a:rPr lang="en-US" sz="2600" dirty="0">
                <a:solidFill>
                  <a:schemeClr val="tx1"/>
                </a:solidFill>
              </a:rPr>
              <a:t>Study design and setting (e.g., cross-sectional analysis of a community cohort)</a:t>
            </a:r>
            <a:endParaRPr lang="en-US" sz="2600" dirty="0"/>
          </a:p>
          <a:p>
            <a:pPr marL="304800" indent="-304800">
              <a:spcAft>
                <a:spcPts val="800"/>
              </a:spcAft>
              <a:buSzPct val="100000"/>
              <a:buChar char="•"/>
            </a:pPr>
            <a:r>
              <a:rPr lang="en-US" sz="2600" dirty="0">
                <a:solidFill>
                  <a:schemeClr val="tx1"/>
                </a:solidFill>
              </a:rPr>
              <a:t>Participants: number, age range, and key inclusion criteria</a:t>
            </a:r>
            <a:endParaRPr lang="en-US" sz="2600" dirty="0"/>
          </a:p>
          <a:p>
            <a:pPr marL="304800" indent="-304800">
              <a:spcAft>
                <a:spcPts val="800"/>
              </a:spcAft>
              <a:buSzPct val="100000"/>
              <a:buChar char="•"/>
            </a:pPr>
            <a:r>
              <a:rPr lang="en-US" sz="2600" dirty="0">
                <a:solidFill>
                  <a:schemeClr val="tx1"/>
                </a:solidFill>
              </a:rPr>
              <a:t>Main measures: exposures, outcomes, and covariates</a:t>
            </a:r>
            <a:endParaRPr lang="en-US" sz="2600" dirty="0"/>
          </a:p>
          <a:p>
            <a:pPr marL="304800" indent="-304800">
              <a:spcAft>
                <a:spcPts val="800"/>
              </a:spcAft>
              <a:buSzPct val="100000"/>
              <a:buChar char="•"/>
            </a:pPr>
            <a:r>
              <a:rPr lang="en-US" sz="2600" dirty="0">
                <a:solidFill>
                  <a:schemeClr val="tx1"/>
                </a:solidFill>
              </a:rPr>
              <a:t>Statistical analysis: models, adjustments, and software</a:t>
            </a:r>
            <a:endParaRPr lang="en-US" sz="2600" dirty="0"/>
          </a:p>
        </p:txBody>
      </p:sp>
      <p:sp>
        <p:nvSpPr>
          <p:cNvPr id="26" name="Figure 1 placeholder"/>
          <p:cNvSpPr/>
          <p:nvPr/>
        </p:nvSpPr>
        <p:spPr>
          <a:xfrm>
            <a:off x="1280160" y="20482560"/>
            <a:ext cx="8590788" cy="7589520"/>
          </a:xfrm>
          <a:prstGeom prst="rect">
            <a:avLst/>
          </a:prstGeom>
          <a:solidFill>
            <a:schemeClr val="bg1"/>
          </a:solidFill>
          <a:ln w="25400">
            <a:solidFill>
              <a:schemeClr val="accent4"/>
            </a:solidFill>
            <a:prstDash val="dash"/>
          </a:ln>
        </p:spPr>
        <p:txBody>
          <a:bodyPr/>
          <a:lstStyle/>
          <a:p>
            <a:endParaRPr lang="zh-TW" altLang="en-US"/>
          </a:p>
        </p:txBody>
      </p:sp>
      <p:sp>
        <p:nvSpPr>
          <p:cNvPr id="27" name="Figure 1 placeholder label"/>
          <p:cNvSpPr txBox="1"/>
          <p:nvPr/>
        </p:nvSpPr>
        <p:spPr>
          <a:xfrm>
            <a:off x="1280160" y="20482560"/>
            <a:ext cx="8590788" cy="7589520"/>
          </a:xfrm>
          <a:prstGeom prst="rect">
            <a:avLst/>
          </a:prstGeom>
          <a:noFill/>
          <a:ln/>
        </p:spPr>
        <p:txBody>
          <a:bodyPr wrap="square" rtlCol="0" anchor="ctr"/>
          <a:lstStyle/>
          <a:p>
            <a:pPr marL="0" indent="0" algn="ctr">
              <a:buNone/>
            </a:pPr>
            <a:r>
              <a:rPr lang="en-US" sz="2400" dirty="0">
                <a:solidFill>
                  <a:schemeClr val="accent4"/>
                </a:solidFill>
              </a:rPr>
              <a:t>e.g. Figure 1. Study flowchart or design diagram</a:t>
            </a:r>
            <a:endParaRPr lang="en-US" sz="2400" dirty="0"/>
          </a:p>
          <a:p>
            <a:pPr marL="0" indent="0" algn="ctr">
              <a:buNone/>
            </a:pPr>
            <a:r>
              <a:rPr lang="en-US" sz="2400" dirty="0">
                <a:solidFill>
                  <a:schemeClr val="accent4"/>
                </a:solidFill>
              </a:rPr>
              <a:t>(insert image, 300 dpi or higher)</a:t>
            </a:r>
            <a:endParaRPr lang="en-US" sz="2400" dirty="0"/>
          </a:p>
        </p:txBody>
      </p:sp>
      <p:sp>
        <p:nvSpPr>
          <p:cNvPr id="28" name="Results card"/>
          <p:cNvSpPr/>
          <p:nvPr/>
        </p:nvSpPr>
        <p:spPr>
          <a:xfrm>
            <a:off x="10968228" y="6400800"/>
            <a:ext cx="9688068" cy="15179040"/>
          </a:xfrm>
          <a:prstGeom prst="roundRect">
            <a:avLst>
              <a:gd name="adj" fmla="val 1888"/>
            </a:avLst>
          </a:prstGeom>
          <a:solidFill>
            <a:schemeClr val="bg2"/>
          </a:solidFill>
          <a:ln/>
        </p:spPr>
        <p:txBody>
          <a:bodyPr/>
          <a:lstStyle/>
          <a:p>
            <a:endParaRPr lang="zh-TW" altLang="en-US"/>
          </a:p>
        </p:txBody>
      </p:sp>
      <p:sp>
        <p:nvSpPr>
          <p:cNvPr id="29" name="Results marker"/>
          <p:cNvSpPr/>
          <p:nvPr/>
        </p:nvSpPr>
        <p:spPr>
          <a:xfrm>
            <a:off x="11379708" y="6784848"/>
            <a:ext cx="384048" cy="384048"/>
          </a:xfrm>
          <a:prstGeom prst="ellipse">
            <a:avLst/>
          </a:prstGeom>
          <a:solidFill>
            <a:schemeClr val="accent2"/>
          </a:solidFill>
          <a:ln/>
        </p:spPr>
        <p:txBody>
          <a:bodyPr/>
          <a:lstStyle/>
          <a:p>
            <a:endParaRPr lang="zh-TW" altLang="en-US"/>
          </a:p>
        </p:txBody>
      </p:sp>
      <p:sp>
        <p:nvSpPr>
          <p:cNvPr id="30" name="Results heading"/>
          <p:cNvSpPr txBox="1"/>
          <p:nvPr/>
        </p:nvSpPr>
        <p:spPr>
          <a:xfrm>
            <a:off x="11974068" y="6629400"/>
            <a:ext cx="8316468" cy="731520"/>
          </a:xfrm>
          <a:prstGeom prst="rect">
            <a:avLst/>
          </a:prstGeom>
          <a:noFill/>
          <a:ln/>
        </p:spPr>
        <p:txBody>
          <a:bodyPr wrap="square" lIns="0" tIns="0" rIns="0" bIns="0" rtlCol="0" anchor="ctr"/>
          <a:lstStyle/>
          <a:p>
            <a:pPr marL="0" indent="0">
              <a:buNone/>
            </a:pPr>
            <a:r>
              <a:rPr lang="en-US" sz="4000" b="1" dirty="0">
                <a:solidFill>
                  <a:schemeClr val="accent1"/>
                </a:solidFill>
              </a:rPr>
              <a:t>Results</a:t>
            </a:r>
            <a:endParaRPr lang="en-US" sz="4000" dirty="0"/>
          </a:p>
        </p:txBody>
      </p:sp>
      <p:sp>
        <p:nvSpPr>
          <p:cNvPr id="31" name="Results intro text"/>
          <p:cNvSpPr txBox="1"/>
          <p:nvPr/>
        </p:nvSpPr>
        <p:spPr>
          <a:xfrm>
            <a:off x="11516868" y="7589520"/>
            <a:ext cx="8590788" cy="1828800"/>
          </a:xfrm>
          <a:prstGeom prst="rect">
            <a:avLst/>
          </a:prstGeom>
          <a:noFill/>
          <a:ln/>
        </p:spPr>
        <p:txBody>
          <a:bodyPr wrap="square" lIns="0" tIns="0" rIns="0" bIns="0" rtlCol="0" anchor="t"/>
          <a:lstStyle/>
          <a:p>
            <a:pPr marL="0" indent="0">
              <a:spcAft>
                <a:spcPts val="800"/>
              </a:spcAft>
              <a:buNone/>
            </a:pPr>
            <a:r>
              <a:rPr lang="en-US" sz="2600" dirty="0">
                <a:solidFill>
                  <a:schemeClr val="tx1"/>
                </a:solidFill>
              </a:rPr>
              <a:t>Summarize the main findings with key numbers (e.g., effect sizes with 95% CI and p values). Let figures and tables carry most of the detail.</a:t>
            </a:r>
            <a:endParaRPr lang="en-US" sz="2600" dirty="0"/>
          </a:p>
        </p:txBody>
      </p:sp>
      <p:sp>
        <p:nvSpPr>
          <p:cNvPr id="32" name="Figure 2 placeholder"/>
          <p:cNvSpPr/>
          <p:nvPr/>
        </p:nvSpPr>
        <p:spPr>
          <a:xfrm>
            <a:off x="11516868" y="9692640"/>
            <a:ext cx="4112514" cy="4572000"/>
          </a:xfrm>
          <a:prstGeom prst="rect">
            <a:avLst/>
          </a:prstGeom>
          <a:solidFill>
            <a:schemeClr val="bg1"/>
          </a:solidFill>
          <a:ln w="25400">
            <a:solidFill>
              <a:schemeClr val="accent4"/>
            </a:solidFill>
            <a:prstDash val="dash"/>
          </a:ln>
        </p:spPr>
        <p:txBody>
          <a:bodyPr/>
          <a:lstStyle/>
          <a:p>
            <a:endParaRPr lang="zh-TW" altLang="en-US"/>
          </a:p>
        </p:txBody>
      </p:sp>
      <p:sp>
        <p:nvSpPr>
          <p:cNvPr id="33" name="Figure 2 placeholder label"/>
          <p:cNvSpPr txBox="1"/>
          <p:nvPr/>
        </p:nvSpPr>
        <p:spPr>
          <a:xfrm>
            <a:off x="11516868" y="9692640"/>
            <a:ext cx="4112514" cy="4572000"/>
          </a:xfrm>
          <a:prstGeom prst="rect">
            <a:avLst/>
          </a:prstGeom>
          <a:noFill/>
          <a:ln/>
        </p:spPr>
        <p:txBody>
          <a:bodyPr wrap="square" rtlCol="0" anchor="ctr"/>
          <a:lstStyle/>
          <a:p>
            <a:pPr marL="0" indent="0" algn="ctr">
              <a:buNone/>
            </a:pPr>
            <a:r>
              <a:rPr lang="en-US" sz="2400" dirty="0">
                <a:solidFill>
                  <a:schemeClr val="accent4"/>
                </a:solidFill>
              </a:rPr>
              <a:t>Figure 2</a:t>
            </a:r>
            <a:endParaRPr lang="en-US" sz="2400" dirty="0"/>
          </a:p>
          <a:p>
            <a:pPr marL="0" indent="0" algn="ctr">
              <a:buNone/>
            </a:pPr>
            <a:r>
              <a:rPr lang="en-US" sz="2400" dirty="0">
                <a:solidFill>
                  <a:schemeClr val="accent4"/>
                </a:solidFill>
              </a:rPr>
              <a:t>(chart or image)</a:t>
            </a:r>
            <a:endParaRPr lang="en-US" sz="2400" dirty="0"/>
          </a:p>
        </p:txBody>
      </p:sp>
      <p:sp>
        <p:nvSpPr>
          <p:cNvPr id="34" name="Figure 3 placeholder"/>
          <p:cNvSpPr/>
          <p:nvPr/>
        </p:nvSpPr>
        <p:spPr>
          <a:xfrm>
            <a:off x="15995142" y="9692640"/>
            <a:ext cx="4112514" cy="4572000"/>
          </a:xfrm>
          <a:prstGeom prst="rect">
            <a:avLst/>
          </a:prstGeom>
          <a:solidFill>
            <a:schemeClr val="bg1"/>
          </a:solidFill>
          <a:ln w="25400">
            <a:solidFill>
              <a:schemeClr val="accent4"/>
            </a:solidFill>
            <a:prstDash val="dash"/>
          </a:ln>
        </p:spPr>
        <p:txBody>
          <a:bodyPr/>
          <a:lstStyle/>
          <a:p>
            <a:endParaRPr lang="zh-TW" altLang="en-US"/>
          </a:p>
        </p:txBody>
      </p:sp>
      <p:sp>
        <p:nvSpPr>
          <p:cNvPr id="35" name="Figure 3 placeholder label"/>
          <p:cNvSpPr txBox="1"/>
          <p:nvPr/>
        </p:nvSpPr>
        <p:spPr>
          <a:xfrm>
            <a:off x="15995142" y="9692640"/>
            <a:ext cx="4112514" cy="4572000"/>
          </a:xfrm>
          <a:prstGeom prst="rect">
            <a:avLst/>
          </a:prstGeom>
          <a:noFill/>
          <a:ln/>
        </p:spPr>
        <p:txBody>
          <a:bodyPr wrap="square" rtlCol="0" anchor="ctr"/>
          <a:lstStyle/>
          <a:p>
            <a:pPr marL="0" indent="0" algn="ctr">
              <a:buNone/>
            </a:pPr>
            <a:r>
              <a:rPr lang="en-US" sz="2400" dirty="0">
                <a:solidFill>
                  <a:schemeClr val="accent4"/>
                </a:solidFill>
              </a:rPr>
              <a:t>Figure 3</a:t>
            </a:r>
            <a:endParaRPr lang="en-US" sz="2400" dirty="0"/>
          </a:p>
          <a:p>
            <a:pPr marL="0" indent="0" algn="ctr">
              <a:buNone/>
            </a:pPr>
            <a:r>
              <a:rPr lang="en-US" sz="2400" dirty="0">
                <a:solidFill>
                  <a:schemeClr val="accent4"/>
                </a:solidFill>
              </a:rPr>
              <a:t>(chart or image)</a:t>
            </a:r>
            <a:endParaRPr lang="en-US" sz="2400" dirty="0"/>
          </a:p>
        </p:txBody>
      </p:sp>
      <p:sp>
        <p:nvSpPr>
          <p:cNvPr id="36" name="Figure captions"/>
          <p:cNvSpPr txBox="1"/>
          <p:nvPr/>
        </p:nvSpPr>
        <p:spPr>
          <a:xfrm>
            <a:off x="11516868" y="14447520"/>
            <a:ext cx="8590788" cy="822960"/>
          </a:xfrm>
          <a:prstGeom prst="rect">
            <a:avLst/>
          </a:prstGeom>
          <a:noFill/>
          <a:ln/>
        </p:spPr>
        <p:txBody>
          <a:bodyPr wrap="square" lIns="0" tIns="0" rIns="0" bIns="0" rtlCol="0" anchor="t"/>
          <a:lstStyle/>
          <a:p>
            <a:pPr marL="0" indent="0">
              <a:spcAft>
                <a:spcPts val="800"/>
              </a:spcAft>
              <a:buNone/>
            </a:pPr>
            <a:r>
              <a:rPr lang="en-US" sz="2000" i="1" dirty="0">
                <a:solidFill>
                  <a:schemeClr val="tx2"/>
                </a:solidFill>
              </a:rPr>
              <a:t>Figure 2. Short caption explaining what is shown.   Figure 3. Short caption.</a:t>
            </a:r>
            <a:endParaRPr lang="en-US" sz="20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11516868" y="15544800"/>
          <a:ext cx="8590788" cy="2743200"/>
        </p:xfrm>
        <a:graphic>
          <a:graphicData uri="http://schemas.openxmlformats.org/drawingml/2006/table">
            <a:tbl>
              <a:tblPr/>
              <a:tblGrid>
                <a:gridCol w="3178592">
                  <a:extLst>
                    <a:ext uri="{9D8B030D-6E8A-4147-A177-3AD203B41FA5}">
                      <a16:colId xmlns:a16="http://schemas.microsoft.com/office/drawing/2014/main" val="20000"/>
                    </a:ext>
                  </a:extLst>
                </a:gridCol>
                <a:gridCol w="1975881">
                  <a:extLst>
                    <a:ext uri="{9D8B030D-6E8A-4147-A177-3AD203B41FA5}">
                      <a16:colId xmlns:a16="http://schemas.microsoft.com/office/drawing/2014/main" val="20001"/>
                    </a:ext>
                  </a:extLst>
                </a:gridCol>
                <a:gridCol w="1975881">
                  <a:extLst>
                    <a:ext uri="{9D8B030D-6E8A-4147-A177-3AD203B41FA5}">
                      <a16:colId xmlns:a16="http://schemas.microsoft.com/office/drawing/2014/main" val="20002"/>
                    </a:ext>
                  </a:extLst>
                </a:gridCol>
                <a:gridCol w="1460434">
                  <a:extLst>
                    <a:ext uri="{9D8B030D-6E8A-4147-A177-3AD203B41FA5}">
                      <a16:colId xmlns:a16="http://schemas.microsoft.com/office/drawing/2014/main" val="20003"/>
                    </a:ext>
                  </a:extLst>
                </a:gridCol>
              </a:tblGrid>
              <a:tr h="685800">
                <a:tc>
                  <a:txBody>
                    <a:bodyPr/>
                    <a:lstStyle/>
                    <a:p>
                      <a:pPr marL="0" indent="0" algn="l">
                        <a:buNone/>
                      </a:pPr>
                      <a:r>
                        <a:rPr lang="en-US" sz="2200" b="1" dirty="0">
                          <a:solidFill>
                            <a:srgbClr val="FFFFFF"/>
                          </a:solidFill>
                          <a:latin typeface="Arial" pitchFamily="34" charset="0"/>
                          <a:ea typeface="Arial" pitchFamily="34" charset="-122"/>
                          <a:cs typeface="Arial" pitchFamily="34" charset="-120"/>
                        </a:rPr>
                        <a:t>Variable</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1D4E56"/>
                    </a:solidFill>
                  </a:tcPr>
                </a:tc>
                <a:tc>
                  <a:txBody>
                    <a:bodyPr/>
                    <a:lstStyle/>
                    <a:p>
                      <a:pPr marL="0" indent="0" algn="ctr">
                        <a:buNone/>
                      </a:pPr>
                      <a:r>
                        <a:rPr lang="en-US" sz="2200" b="1" dirty="0">
                          <a:solidFill>
                            <a:srgbClr val="FFFFFF"/>
                          </a:solidFill>
                          <a:latin typeface="Arial" pitchFamily="34" charset="0"/>
                          <a:ea typeface="Arial" pitchFamily="34" charset="-122"/>
                          <a:cs typeface="Arial" pitchFamily="34" charset="-120"/>
                        </a:rPr>
                        <a:t>Group A</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1D4E56"/>
                    </a:solidFill>
                  </a:tcPr>
                </a:tc>
                <a:tc>
                  <a:txBody>
                    <a:bodyPr/>
                    <a:lstStyle/>
                    <a:p>
                      <a:pPr marL="0" indent="0" algn="ctr">
                        <a:buNone/>
                      </a:pPr>
                      <a:r>
                        <a:rPr lang="en-US" sz="2200" b="1" dirty="0">
                          <a:solidFill>
                            <a:srgbClr val="FFFFFF"/>
                          </a:solidFill>
                          <a:latin typeface="Arial" pitchFamily="34" charset="0"/>
                          <a:ea typeface="Arial" pitchFamily="34" charset="-122"/>
                          <a:cs typeface="Arial" pitchFamily="34" charset="-120"/>
                        </a:rPr>
                        <a:t>Group B</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1D4E56"/>
                    </a:solidFill>
                  </a:tcPr>
                </a:tc>
                <a:tc>
                  <a:txBody>
                    <a:bodyPr/>
                    <a:lstStyle/>
                    <a:p>
                      <a:pPr marL="0" indent="0" algn="ctr">
                        <a:buNone/>
                      </a:pPr>
                      <a:r>
                        <a:rPr lang="en-US" sz="2200" b="1" dirty="0">
                          <a:solidFill>
                            <a:srgbClr val="FFFFFF"/>
                          </a:solidFill>
                          <a:latin typeface="Arial" pitchFamily="34" charset="0"/>
                          <a:ea typeface="Arial" pitchFamily="34" charset="-122"/>
                          <a:cs typeface="Arial" pitchFamily="34" charset="-120"/>
                        </a:rPr>
                        <a:t>p value</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1D4E56"/>
                    </a:solidFill>
                  </a:tcPr>
                </a:tc>
                <a:extLst>
                  <a:ext uri="{0D108BD9-81ED-4DB2-BD59-A6C34878D82A}">
                    <a16:rowId xmlns:a16="http://schemas.microsoft.com/office/drawing/2014/main" val="10000"/>
                  </a:ext>
                </a:extLst>
              </a:tr>
              <a:tr h="685800">
                <a:tc>
                  <a:txBody>
                    <a:bodyPr/>
                    <a:lstStyle/>
                    <a:p>
                      <a:pPr marL="0" indent="0" algn="l">
                        <a:buNone/>
                      </a:pPr>
                      <a:r>
                        <a:rPr lang="en-US" sz="2200" dirty="0">
                          <a:solidFill>
                            <a:srgbClr val="1F2A30"/>
                          </a:solidFill>
                          <a:latin typeface="Arial" pitchFamily="34" charset="0"/>
                          <a:ea typeface="Arial" pitchFamily="34" charset="-122"/>
                          <a:cs typeface="Arial" pitchFamily="34" charset="-120"/>
                        </a:rPr>
                        <a:t>Age, years</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1F2A30"/>
                          </a:solidFill>
                          <a:latin typeface="Arial" pitchFamily="34" charset="0"/>
                          <a:ea typeface="Arial" pitchFamily="34" charset="-122"/>
                          <a:cs typeface="Arial" pitchFamily="34" charset="-120"/>
                        </a:rPr>
                        <a:t>mean ± SD</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1F2A30"/>
                          </a:solidFill>
                          <a:latin typeface="Arial" pitchFamily="34" charset="0"/>
                          <a:ea typeface="Arial" pitchFamily="34" charset="-122"/>
                          <a:cs typeface="Arial" pitchFamily="34" charset="-120"/>
                        </a:rPr>
                        <a:t>mean ± SD</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2200" dirty="0">
                          <a:solidFill>
                            <a:srgbClr val="1F2A30"/>
                          </a:solidFill>
                          <a:latin typeface="Arial" pitchFamily="34" charset="0"/>
                          <a:ea typeface="Arial" pitchFamily="34" charset="-122"/>
                          <a:cs typeface="Arial" pitchFamily="34" charset="-120"/>
                        </a:rPr>
                        <a:t>Female, n (%)</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lgn="l">
                        <a:buNone/>
                      </a:pPr>
                      <a:r>
                        <a:rPr lang="en-US" sz="2200" dirty="0">
                          <a:solidFill>
                            <a:srgbClr val="1F2A30"/>
                          </a:solidFill>
                          <a:latin typeface="Arial" pitchFamily="34" charset="0"/>
                          <a:ea typeface="Arial" pitchFamily="34" charset="-122"/>
                          <a:cs typeface="Arial" pitchFamily="34" charset="-120"/>
                        </a:rPr>
                        <a:t>Outcome measure</a:t>
                      </a: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tc>
                  <a:txBody>
                    <a:bodyPr/>
                    <a:lstStyle/>
                    <a:p>
                      <a:pPr marL="0" indent="0" algn="ctr">
                        <a:buNone/>
                      </a:pPr>
                      <a:endParaRPr lang="en-US" sz="2200" dirty="0">
                        <a:latin typeface="Arial" charset="0"/>
                        <a:ea typeface="Arial" charset="0"/>
                        <a:cs typeface="Arial" charset="0"/>
                      </a:endParaRPr>
                    </a:p>
                  </a:txBody>
                  <a:tcPr anchor="ctr">
                    <a:lnL w="12700" cap="flat" cmpd="sng" algn="ctr">
                      <a:solidFill>
                        <a:srgbClr val="D9E6E3"/>
                      </a:solidFill>
                      <a:prstDash val="solid"/>
                      <a:round/>
                      <a:headEnd type="none" w="med" len="med"/>
                      <a:tailEnd type="none" w="med" len="med"/>
                    </a:lnL>
                    <a:lnR w="12700" cap="flat" cmpd="sng" algn="ctr">
                      <a:solidFill>
                        <a:srgbClr val="D9E6E3"/>
                      </a:solidFill>
                      <a:prstDash val="solid"/>
                      <a:round/>
                      <a:headEnd type="none" w="med" len="med"/>
                      <a:tailEnd type="none" w="med" len="med"/>
                    </a:lnR>
                    <a:lnT w="12700" cap="flat" cmpd="sng" algn="ctr">
                      <a:solidFill>
                        <a:srgbClr val="D9E6E3"/>
                      </a:solidFill>
                      <a:prstDash val="solid"/>
                      <a:round/>
                      <a:headEnd type="none" w="med" len="med"/>
                      <a:tailEnd type="none" w="med" len="med"/>
                    </a:lnT>
                    <a:lnB w="12700" cap="flat" cmpd="sng" algn="ctr">
                      <a:solidFill>
                        <a:srgbClr val="D9E6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8" name="Table caption"/>
          <p:cNvSpPr txBox="1"/>
          <p:nvPr/>
        </p:nvSpPr>
        <p:spPr>
          <a:xfrm>
            <a:off x="11516868" y="18470880"/>
            <a:ext cx="8590788" cy="548640"/>
          </a:xfrm>
          <a:prstGeom prst="rect">
            <a:avLst/>
          </a:prstGeom>
          <a:noFill/>
          <a:ln/>
        </p:spPr>
        <p:txBody>
          <a:bodyPr wrap="square" lIns="0" tIns="0" rIns="0" bIns="0" rtlCol="0" anchor="t"/>
          <a:lstStyle/>
          <a:p>
            <a:pPr marL="0" indent="0">
              <a:spcAft>
                <a:spcPts val="800"/>
              </a:spcAft>
              <a:buNone/>
            </a:pPr>
            <a:r>
              <a:rPr lang="en-US" sz="2000" i="1" dirty="0">
                <a:solidFill>
                  <a:schemeClr val="tx2"/>
                </a:solidFill>
              </a:rPr>
              <a:t>Table 1. Characteristics of participants (editable example table).</a:t>
            </a:r>
            <a:endParaRPr lang="en-US" sz="2000" dirty="0"/>
          </a:p>
        </p:txBody>
      </p:sp>
      <p:sp>
        <p:nvSpPr>
          <p:cNvPr id="39" name="Results closing text"/>
          <p:cNvSpPr txBox="1"/>
          <p:nvPr/>
        </p:nvSpPr>
        <p:spPr>
          <a:xfrm>
            <a:off x="11516868" y="19385280"/>
            <a:ext cx="8590788" cy="1280160"/>
          </a:xfrm>
          <a:prstGeom prst="rect">
            <a:avLst/>
          </a:prstGeom>
          <a:noFill/>
          <a:ln/>
        </p:spPr>
        <p:txBody>
          <a:bodyPr wrap="square" lIns="0" tIns="0" rIns="0" bIns="0" rtlCol="0" anchor="t"/>
          <a:lstStyle/>
          <a:p>
            <a:pPr marL="0" indent="0">
              <a:spcAft>
                <a:spcPts val="800"/>
              </a:spcAft>
              <a:buNone/>
            </a:pPr>
            <a:r>
              <a:rPr lang="en-US" sz="2600" dirty="0">
                <a:solidFill>
                  <a:schemeClr val="tx1"/>
                </a:solidFill>
              </a:rPr>
              <a:t>Add one or two sentences that interpret the table or figures.</a:t>
            </a:r>
            <a:endParaRPr lang="en-US" sz="2600" dirty="0"/>
          </a:p>
        </p:txBody>
      </p:sp>
      <p:sp>
        <p:nvSpPr>
          <p:cNvPr id="40" name="Conclusion card"/>
          <p:cNvSpPr/>
          <p:nvPr/>
        </p:nvSpPr>
        <p:spPr>
          <a:xfrm>
            <a:off x="10968228" y="22037040"/>
            <a:ext cx="9688068" cy="3840480"/>
          </a:xfrm>
          <a:prstGeom prst="roundRect">
            <a:avLst>
              <a:gd name="adj" fmla="val 4762"/>
            </a:avLst>
          </a:prstGeom>
          <a:solidFill>
            <a:schemeClr val="bg2"/>
          </a:solidFill>
          <a:ln/>
        </p:spPr>
        <p:txBody>
          <a:bodyPr/>
          <a:lstStyle/>
          <a:p>
            <a:endParaRPr lang="zh-TW" altLang="en-US"/>
          </a:p>
        </p:txBody>
      </p:sp>
      <p:sp>
        <p:nvSpPr>
          <p:cNvPr id="41" name="Conclusion marker"/>
          <p:cNvSpPr/>
          <p:nvPr/>
        </p:nvSpPr>
        <p:spPr>
          <a:xfrm>
            <a:off x="11379708" y="22421088"/>
            <a:ext cx="384048" cy="384048"/>
          </a:xfrm>
          <a:prstGeom prst="ellipse">
            <a:avLst/>
          </a:prstGeom>
          <a:solidFill>
            <a:schemeClr val="accent2"/>
          </a:solidFill>
          <a:ln/>
        </p:spPr>
        <p:txBody>
          <a:bodyPr/>
          <a:lstStyle/>
          <a:p>
            <a:endParaRPr lang="zh-TW" altLang="en-US"/>
          </a:p>
        </p:txBody>
      </p:sp>
      <p:sp>
        <p:nvSpPr>
          <p:cNvPr id="42" name="Conclusion heading"/>
          <p:cNvSpPr txBox="1"/>
          <p:nvPr/>
        </p:nvSpPr>
        <p:spPr>
          <a:xfrm>
            <a:off x="11974068" y="22265640"/>
            <a:ext cx="8316468" cy="731520"/>
          </a:xfrm>
          <a:prstGeom prst="rect">
            <a:avLst/>
          </a:prstGeom>
          <a:noFill/>
          <a:ln/>
        </p:spPr>
        <p:txBody>
          <a:bodyPr wrap="square" lIns="0" tIns="0" rIns="0" bIns="0" rtlCol="0" anchor="ctr"/>
          <a:lstStyle/>
          <a:p>
            <a:pPr marL="0" indent="0">
              <a:buNone/>
            </a:pPr>
            <a:r>
              <a:rPr lang="en-US" sz="4000" b="1" dirty="0">
                <a:solidFill>
                  <a:schemeClr val="accent1"/>
                </a:solidFill>
              </a:rPr>
              <a:t>Conclusion</a:t>
            </a:r>
            <a:endParaRPr lang="en-US" sz="4000" dirty="0"/>
          </a:p>
        </p:txBody>
      </p:sp>
      <p:sp>
        <p:nvSpPr>
          <p:cNvPr id="43" name="Conclusion text"/>
          <p:cNvSpPr txBox="1"/>
          <p:nvPr/>
        </p:nvSpPr>
        <p:spPr>
          <a:xfrm>
            <a:off x="11516868" y="23225760"/>
            <a:ext cx="8590788" cy="2377440"/>
          </a:xfrm>
          <a:prstGeom prst="rect">
            <a:avLst/>
          </a:prstGeom>
          <a:noFill/>
          <a:ln/>
        </p:spPr>
        <p:txBody>
          <a:bodyPr wrap="square" lIns="0" tIns="0" rIns="0" bIns="0" rtlCol="0" anchor="t"/>
          <a:lstStyle/>
          <a:p>
            <a:pPr marL="0" indent="0">
              <a:spcAft>
                <a:spcPts val="800"/>
              </a:spcAft>
              <a:buNone/>
            </a:pPr>
            <a:r>
              <a:rPr lang="en-US" sz="2600" dirty="0">
                <a:solidFill>
                  <a:schemeClr val="tx1"/>
                </a:solidFill>
              </a:rPr>
              <a:t>Give the take-home message in two or three sentences. Note practical implications for health management or future research.</a:t>
            </a:r>
            <a:endParaRPr lang="en-US" sz="2600" dirty="0"/>
          </a:p>
        </p:txBody>
      </p:sp>
      <p:sp>
        <p:nvSpPr>
          <p:cNvPr id="44" name="References card"/>
          <p:cNvSpPr/>
          <p:nvPr/>
        </p:nvSpPr>
        <p:spPr>
          <a:xfrm>
            <a:off x="10968228" y="26334720"/>
            <a:ext cx="9688068" cy="2377440"/>
          </a:xfrm>
          <a:prstGeom prst="roundRect">
            <a:avLst>
              <a:gd name="adj" fmla="val 7692"/>
            </a:avLst>
          </a:prstGeom>
          <a:solidFill>
            <a:schemeClr val="bg2"/>
          </a:solidFill>
          <a:ln/>
        </p:spPr>
        <p:txBody>
          <a:bodyPr/>
          <a:lstStyle/>
          <a:p>
            <a:endParaRPr lang="zh-TW" altLang="en-US"/>
          </a:p>
        </p:txBody>
      </p:sp>
      <p:sp>
        <p:nvSpPr>
          <p:cNvPr id="45" name="References marker"/>
          <p:cNvSpPr/>
          <p:nvPr/>
        </p:nvSpPr>
        <p:spPr>
          <a:xfrm>
            <a:off x="11379708" y="26718768"/>
            <a:ext cx="384048" cy="384048"/>
          </a:xfrm>
          <a:prstGeom prst="ellipse">
            <a:avLst/>
          </a:prstGeom>
          <a:solidFill>
            <a:schemeClr val="accent2"/>
          </a:solidFill>
          <a:ln/>
        </p:spPr>
        <p:txBody>
          <a:bodyPr/>
          <a:lstStyle/>
          <a:p>
            <a:endParaRPr lang="zh-TW" altLang="en-US"/>
          </a:p>
        </p:txBody>
      </p:sp>
      <p:sp>
        <p:nvSpPr>
          <p:cNvPr id="46" name="References heading"/>
          <p:cNvSpPr txBox="1"/>
          <p:nvPr/>
        </p:nvSpPr>
        <p:spPr>
          <a:xfrm>
            <a:off x="11974068" y="26563320"/>
            <a:ext cx="8316468" cy="731520"/>
          </a:xfrm>
          <a:prstGeom prst="rect">
            <a:avLst/>
          </a:prstGeom>
          <a:noFill/>
          <a:ln/>
        </p:spPr>
        <p:txBody>
          <a:bodyPr wrap="square" lIns="0" tIns="0" rIns="0" bIns="0" rtlCol="0" anchor="ctr"/>
          <a:lstStyle/>
          <a:p>
            <a:pPr marL="0" indent="0">
              <a:buNone/>
            </a:pPr>
            <a:r>
              <a:rPr lang="en-US" sz="4000" b="1" dirty="0">
                <a:solidFill>
                  <a:schemeClr val="accent1"/>
                </a:solidFill>
              </a:rPr>
              <a:t>References</a:t>
            </a:r>
            <a:endParaRPr lang="en-US" sz="4000" dirty="0"/>
          </a:p>
        </p:txBody>
      </p:sp>
      <p:sp>
        <p:nvSpPr>
          <p:cNvPr id="47" name="References text"/>
          <p:cNvSpPr txBox="1"/>
          <p:nvPr/>
        </p:nvSpPr>
        <p:spPr>
          <a:xfrm>
            <a:off x="11516868" y="27432000"/>
            <a:ext cx="8590788" cy="1143000"/>
          </a:xfrm>
          <a:prstGeom prst="rect">
            <a:avLst/>
          </a:prstGeom>
          <a:noFill/>
          <a:ln/>
        </p:spPr>
        <p:txBody>
          <a:bodyPr wrap="square" lIns="0" tIns="0" rIns="0" bIns="0" rtlCol="0" anchor="t"/>
          <a:lstStyle/>
          <a:p>
            <a:pPr marL="0" indent="0">
              <a:spcAft>
                <a:spcPts val="800"/>
              </a:spcAft>
              <a:buNone/>
            </a:pPr>
            <a:r>
              <a:rPr lang="en-US" sz="1800" dirty="0">
                <a:solidFill>
                  <a:schemeClr val="tx2"/>
                </a:solidFill>
              </a:rPr>
              <a:t>1. Author AA, et al. Title. Journal. Year;Vol:Pages. doi:xx.xxxx</a:t>
            </a:r>
            <a:endParaRPr lang="en-US" sz="1800" dirty="0"/>
          </a:p>
          <a:p>
            <a:pPr marL="0" indent="0">
              <a:spcAft>
                <a:spcPts val="800"/>
              </a:spcAft>
              <a:buNone/>
            </a:pPr>
            <a:r>
              <a:rPr lang="en-US" sz="1800" dirty="0">
                <a:solidFill>
                  <a:schemeClr val="tx2"/>
                </a:solidFill>
              </a:rPr>
              <a:t>2. Limit to 3 to 5 key references in 18 to 20 pt.</a:t>
            </a:r>
            <a:endParaRPr lang="en-US" sz="1800" dirty="0"/>
          </a:p>
        </p:txBody>
      </p:sp>
      <p:sp>
        <p:nvSpPr>
          <p:cNvPr id="48" name="Footer"/>
          <p:cNvSpPr txBox="1"/>
          <p:nvPr/>
        </p:nvSpPr>
        <p:spPr>
          <a:xfrm>
            <a:off x="731520" y="29169360"/>
            <a:ext cx="18461736" cy="777240"/>
          </a:xfrm>
          <a:prstGeom prst="rect">
            <a:avLst/>
          </a:prstGeom>
          <a:noFill/>
          <a:ln/>
        </p:spPr>
        <p:txBody>
          <a:bodyPr wrap="square" lIns="0" tIns="0" rIns="0" bIns="0" rtlCol="0" anchor="ctr"/>
          <a:lstStyle/>
          <a:p>
            <a:pPr marL="0" indent="0">
              <a:buNone/>
            </a:pPr>
            <a:r>
              <a:rPr lang="en-US" sz="1800" b="1" dirty="0">
                <a:solidFill>
                  <a:schemeClr val="tx2"/>
                </a:solidFill>
              </a:rPr>
              <a:t>Contact: </a:t>
            </a:r>
            <a:r>
              <a:rPr lang="en-US" sz="1800" dirty="0">
                <a:solidFill>
                  <a:schemeClr val="tx2"/>
                </a:solidFill>
              </a:rPr>
              <a:t>presenting.author@institution.edu.tw</a:t>
            </a:r>
            <a:endParaRPr lang="en-US" sz="1800" dirty="0"/>
          </a:p>
          <a:p>
            <a:pPr marL="0" indent="0">
              <a:buNone/>
            </a:pPr>
            <a:r>
              <a:rPr lang="en-US" sz="1800" b="1" dirty="0">
                <a:solidFill>
                  <a:schemeClr val="tx2"/>
                </a:solidFill>
              </a:rPr>
              <a:t>Acknowledgments: </a:t>
            </a:r>
            <a:r>
              <a:rPr lang="en-US" sz="1800" dirty="0">
                <a:solidFill>
                  <a:schemeClr val="tx2"/>
                </a:solidFill>
              </a:rPr>
              <a:t>funding sources, grant numbers, and conflicts of interest (if any).</a:t>
            </a:r>
            <a:endParaRPr lang="en-US" sz="1800" dirty="0"/>
          </a:p>
        </p:txBody>
      </p:sp>
      <p:sp>
        <p:nvSpPr>
          <p:cNvPr id="49" name="QR code placeholder"/>
          <p:cNvSpPr/>
          <p:nvPr/>
        </p:nvSpPr>
        <p:spPr>
          <a:xfrm>
            <a:off x="19559016" y="29032200"/>
            <a:ext cx="1097280" cy="1097280"/>
          </a:xfrm>
          <a:prstGeom prst="rect">
            <a:avLst/>
          </a:prstGeom>
          <a:solidFill>
            <a:schemeClr val="bg1"/>
          </a:solidFill>
          <a:ln w="25400">
            <a:solidFill>
              <a:schemeClr val="accent4"/>
            </a:solidFill>
            <a:prstDash val="dash"/>
          </a:ln>
        </p:spPr>
        <p:txBody>
          <a:bodyPr/>
          <a:lstStyle/>
          <a:p>
            <a:endParaRPr lang="zh-TW" altLang="en-US"/>
          </a:p>
        </p:txBody>
      </p:sp>
      <p:sp>
        <p:nvSpPr>
          <p:cNvPr id="50" name="QR code placeholder label"/>
          <p:cNvSpPr txBox="1"/>
          <p:nvPr/>
        </p:nvSpPr>
        <p:spPr>
          <a:xfrm>
            <a:off x="19559016" y="29032200"/>
            <a:ext cx="1097280" cy="1097280"/>
          </a:xfrm>
          <a:prstGeom prst="rect">
            <a:avLst/>
          </a:prstGeom>
          <a:noFill/>
          <a:ln/>
        </p:spPr>
        <p:txBody>
          <a:bodyPr wrap="square" rtlCol="0" anchor="ctr"/>
          <a:lstStyle/>
          <a:p>
            <a:pPr marL="0" indent="0" algn="ctr">
              <a:buNone/>
            </a:pPr>
            <a:r>
              <a:rPr lang="en-US" sz="2400" dirty="0">
                <a:solidFill>
                  <a:schemeClr val="accent4"/>
                </a:solidFill>
              </a:rPr>
              <a:t>QR</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Guide header"/>
          <p:cNvSpPr/>
          <p:nvPr/>
        </p:nvSpPr>
        <p:spPr>
          <a:xfrm>
            <a:off x="0" y="0"/>
            <a:ext cx="21387816" cy="4206240"/>
          </a:xfrm>
          <a:prstGeom prst="rect">
            <a:avLst/>
          </a:prstGeom>
          <a:solidFill>
            <a:schemeClr val="accent1"/>
          </a:solidFill>
          <a:ln/>
        </p:spPr>
        <p:txBody>
          <a:bodyPr/>
          <a:lstStyle/>
          <a:p>
            <a:endParaRPr lang="zh-TW" altLang="en-US"/>
          </a:p>
        </p:txBody>
      </p:sp>
      <p:sp>
        <p:nvSpPr>
          <p:cNvPr id="3" name="Guide title"/>
          <p:cNvSpPr txBox="1"/>
          <p:nvPr/>
        </p:nvSpPr>
        <p:spPr>
          <a:xfrm>
            <a:off x="731520" y="548640"/>
            <a:ext cx="19924776" cy="2286000"/>
          </a:xfrm>
          <a:prstGeom prst="rect">
            <a:avLst/>
          </a:prstGeom>
          <a:noFill/>
          <a:ln/>
        </p:spPr>
        <p:txBody>
          <a:bodyPr wrap="square" lIns="0" tIns="0" rIns="0" bIns="0" rtlCol="0" anchor="t"/>
          <a:lstStyle/>
          <a:p>
            <a:pPr marL="0" indent="0">
              <a:buNone/>
            </a:pPr>
            <a:r>
              <a:rPr lang="en-US" sz="6800" b="1" dirty="0">
                <a:solidFill>
                  <a:schemeClr val="bg1"/>
                </a:solidFill>
              </a:rPr>
              <a:t>Poster Preparation Guide</a:t>
            </a:r>
            <a:endParaRPr lang="en-US" sz="6800" dirty="0"/>
          </a:p>
          <a:p>
            <a:pPr marL="0" indent="0">
              <a:buNone/>
            </a:pPr>
            <a:r>
              <a:rPr lang="en-US" sz="5200" b="1" dirty="0">
                <a:solidFill>
                  <a:schemeClr val="bg1"/>
                </a:solidFill>
                <a:latin typeface="Microsoft JhengHei" pitchFamily="34" charset="0"/>
                <a:ea typeface="Microsoft JhengHei" pitchFamily="34" charset="-122"/>
                <a:cs typeface="Microsoft JhengHei" pitchFamily="34" charset="-120"/>
              </a:rPr>
              <a:t>海報製作說明</a:t>
            </a:r>
            <a:endParaRPr lang="en-US" sz="6800" dirty="0"/>
          </a:p>
        </p:txBody>
      </p:sp>
      <p:sp>
        <p:nvSpPr>
          <p:cNvPr id="4" name="Guide subtitle"/>
          <p:cNvSpPr txBox="1"/>
          <p:nvPr/>
        </p:nvSpPr>
        <p:spPr>
          <a:xfrm>
            <a:off x="731520" y="2926080"/>
            <a:ext cx="19924776" cy="1097280"/>
          </a:xfrm>
          <a:prstGeom prst="rect">
            <a:avLst/>
          </a:prstGeom>
          <a:noFill/>
          <a:ln/>
        </p:spPr>
        <p:txBody>
          <a:bodyPr wrap="square" lIns="0" tIns="0" rIns="0" bIns="0" rtlCol="0" anchor="t"/>
          <a:lstStyle/>
          <a:p>
            <a:pPr marL="0" indent="0">
              <a:buNone/>
            </a:pPr>
            <a:r>
              <a:rPr lang="en-US" sz="2600" dirty="0">
                <a:solidFill>
                  <a:schemeClr val="accent5"/>
                </a:solidFill>
              </a:rPr>
              <a:t>Please delete this page before exporting your poster for printing.</a:t>
            </a:r>
            <a:endParaRPr lang="en-US" sz="2600" dirty="0"/>
          </a:p>
          <a:p>
            <a:pPr marL="0" indent="0">
              <a:buNone/>
            </a:pPr>
            <a:r>
              <a:rPr lang="en-US" sz="2600" dirty="0">
                <a:solidFill>
                  <a:schemeClr val="accent5"/>
                </a:solidFill>
                <a:latin typeface="Microsoft JhengHei" pitchFamily="34" charset="0"/>
                <a:ea typeface="Microsoft JhengHei" pitchFamily="34" charset="-122"/>
                <a:cs typeface="Microsoft JhengHei" pitchFamily="34" charset="-120"/>
              </a:rPr>
              <a:t>列印前請刪除本頁，再輸出海報檔案。</a:t>
            </a:r>
            <a:endParaRPr lang="en-US" sz="2600" dirty="0"/>
          </a:p>
        </p:txBody>
      </p:sp>
      <p:sp>
        <p:nvSpPr>
          <p:cNvPr id="5" name="1. Format card"/>
          <p:cNvSpPr/>
          <p:nvPr/>
        </p:nvSpPr>
        <p:spPr>
          <a:xfrm>
            <a:off x="731520" y="4846320"/>
            <a:ext cx="19924776" cy="7680960"/>
          </a:xfrm>
          <a:prstGeom prst="roundRect">
            <a:avLst>
              <a:gd name="adj" fmla="val 2381"/>
            </a:avLst>
          </a:prstGeom>
          <a:solidFill>
            <a:schemeClr val="bg2"/>
          </a:solidFill>
          <a:ln/>
        </p:spPr>
        <p:txBody>
          <a:bodyPr/>
          <a:lstStyle/>
          <a:p>
            <a:endParaRPr lang="zh-TW" altLang="en-US"/>
          </a:p>
        </p:txBody>
      </p:sp>
      <p:sp>
        <p:nvSpPr>
          <p:cNvPr id="6" name="1. Format marker"/>
          <p:cNvSpPr/>
          <p:nvPr/>
        </p:nvSpPr>
        <p:spPr>
          <a:xfrm>
            <a:off x="1188720" y="5321808"/>
            <a:ext cx="411480" cy="411480"/>
          </a:xfrm>
          <a:prstGeom prst="ellipse">
            <a:avLst/>
          </a:prstGeom>
          <a:solidFill>
            <a:schemeClr val="accent2"/>
          </a:solidFill>
          <a:ln/>
        </p:spPr>
        <p:txBody>
          <a:bodyPr/>
          <a:lstStyle/>
          <a:p>
            <a:endParaRPr lang="zh-TW" altLang="en-US"/>
          </a:p>
        </p:txBody>
      </p:sp>
      <p:sp>
        <p:nvSpPr>
          <p:cNvPr id="7" name="1. Format heading"/>
          <p:cNvSpPr txBox="1"/>
          <p:nvPr/>
        </p:nvSpPr>
        <p:spPr>
          <a:xfrm>
            <a:off x="1828800" y="5120640"/>
            <a:ext cx="18278856" cy="822960"/>
          </a:xfrm>
          <a:prstGeom prst="rect">
            <a:avLst/>
          </a:prstGeom>
          <a:noFill/>
          <a:ln/>
        </p:spPr>
        <p:txBody>
          <a:bodyPr wrap="square" lIns="0" tIns="0" rIns="0" bIns="0" rtlCol="0" anchor="ctr"/>
          <a:lstStyle/>
          <a:p>
            <a:pPr marL="0" indent="0">
              <a:buNone/>
            </a:pPr>
            <a:r>
              <a:rPr lang="en-US" sz="4200" b="1" dirty="0">
                <a:solidFill>
                  <a:schemeClr val="accent1"/>
                </a:solidFill>
              </a:rPr>
              <a:t>1. Format｜</a:t>
            </a:r>
            <a:r>
              <a:rPr lang="en-US" sz="4200" b="1" dirty="0">
                <a:solidFill>
                  <a:schemeClr val="accent1"/>
                </a:solidFill>
                <a:latin typeface="Microsoft JhengHei" pitchFamily="34" charset="0"/>
                <a:ea typeface="Microsoft JhengHei" pitchFamily="34" charset="-122"/>
                <a:cs typeface="Microsoft JhengHei" pitchFamily="34" charset="-120"/>
              </a:rPr>
              <a:t>格式</a:t>
            </a:r>
            <a:endParaRPr lang="en-US" sz="4200" dirty="0"/>
          </a:p>
        </p:txBody>
      </p:sp>
      <p:sp>
        <p:nvSpPr>
          <p:cNvPr id="8" name="1. Format text"/>
          <p:cNvSpPr txBox="1"/>
          <p:nvPr/>
        </p:nvSpPr>
        <p:spPr>
          <a:xfrm>
            <a:off x="1371600" y="6217920"/>
            <a:ext cx="18644616" cy="6035040"/>
          </a:xfrm>
          <a:prstGeom prst="rect">
            <a:avLst/>
          </a:prstGeom>
          <a:noFill/>
          <a:ln/>
        </p:spPr>
        <p:txBody>
          <a:bodyPr wrap="square" lIns="0" tIns="0" rIns="0" bIns="0" rtlCol="0" anchor="t"/>
          <a:lstStyle/>
          <a:p>
            <a:pPr marL="355600" indent="-355600">
              <a:spcAft>
                <a:spcPts val="1800"/>
              </a:spcAft>
              <a:buSzPct val="100000"/>
              <a:buChar char="•"/>
            </a:pPr>
            <a:r>
              <a:rPr lang="en-US" sz="2800" dirty="0">
                <a:solidFill>
                  <a:schemeClr val="tx1"/>
                </a:solidFill>
              </a:rPr>
              <a:t>This template is a suggested format, and the layout may be adjusted freely. Please follow the poster size and font size guidelines, and keep the symposium name and date at the top of the header.</a:t>
            </a:r>
            <a:br>
              <a:rPr dirty="0"/>
            </a:br>
            <a:r>
              <a:rPr lang="en-US" sz="2600" dirty="0">
                <a:solidFill>
                  <a:schemeClr val="tx2"/>
                </a:solidFill>
                <a:latin typeface="Microsoft JhengHei" pitchFamily="34" charset="0"/>
                <a:ea typeface="Microsoft JhengHei" pitchFamily="34" charset="-122"/>
                <a:cs typeface="Microsoft JhengHei" pitchFamily="34" charset="-120"/>
              </a:rPr>
              <a:t>模板為建議格式，可自由調整版面設計，請注意海報尺寸與字型大小，並請保留頁首上方的研討會名稱與日期。</a:t>
            </a:r>
            <a:endParaRPr lang="en-US" sz="2800" dirty="0"/>
          </a:p>
          <a:p>
            <a:pPr marL="355600" indent="-355600">
              <a:spcAft>
                <a:spcPts val="1800"/>
              </a:spcAft>
              <a:buSzPct val="100000"/>
              <a:buChar char="•"/>
            </a:pPr>
            <a:r>
              <a:rPr lang="en-US" sz="2800" dirty="0">
                <a:solidFill>
                  <a:schemeClr val="tx1"/>
                </a:solidFill>
              </a:rPr>
              <a:t>Poster size: A1 portrait (594 × 841 mm).</a:t>
            </a:r>
            <a:br>
              <a:rPr dirty="0"/>
            </a:br>
            <a:r>
              <a:rPr lang="en-US" sz="2600" dirty="0">
                <a:solidFill>
                  <a:schemeClr val="tx2"/>
                </a:solidFill>
                <a:latin typeface="Microsoft JhengHei" pitchFamily="34" charset="0"/>
                <a:ea typeface="Microsoft JhengHei" pitchFamily="34" charset="-122"/>
                <a:cs typeface="Microsoft JhengHei" pitchFamily="34" charset="-120"/>
              </a:rPr>
              <a:t>海報尺寸為 A1 直式（594 × 841 mm）。</a:t>
            </a:r>
            <a:endParaRPr lang="en-US" sz="2800" dirty="0"/>
          </a:p>
          <a:p>
            <a:pPr marL="355600" indent="-355600">
              <a:spcAft>
                <a:spcPts val="1800"/>
              </a:spcAft>
              <a:buSzPct val="100000"/>
              <a:buChar char="•"/>
            </a:pPr>
            <a:r>
              <a:rPr lang="en-US" sz="2800" dirty="0">
                <a:solidFill>
                  <a:schemeClr val="tx1"/>
                </a:solidFill>
              </a:rPr>
              <a:t>Select one poster category from the following list: Healthy Longevity and Geroscience; Health Management and Preventive Medicine; Brain Health and Dementia Prevention; Neuroimaging; Lifestyle Medicine; Digital Health and Artificial Intelligence; Others.</a:t>
            </a:r>
            <a:br>
              <a:rPr dirty="0"/>
            </a:br>
            <a:r>
              <a:rPr lang="en-US" sz="2600" dirty="0">
                <a:solidFill>
                  <a:schemeClr val="tx2"/>
                </a:solidFill>
                <a:latin typeface="Microsoft JhengHei" pitchFamily="34" charset="0"/>
                <a:ea typeface="Microsoft JhengHei" pitchFamily="34" charset="-122"/>
                <a:cs typeface="Microsoft JhengHei" pitchFamily="34" charset="-120"/>
              </a:rPr>
              <a:t>請依作品性質選擇一個海報類別，包括健康長壽與老化科學、健康管理與預防醫學、腦健康與失智症預防、神經影像、生活型態醫學、數位健康與人工智慧，以及其他。</a:t>
            </a:r>
            <a:endParaRPr lang="en-US" sz="2800" dirty="0"/>
          </a:p>
          <a:p>
            <a:pPr marL="355600" indent="-355600">
              <a:spcAft>
                <a:spcPts val="1800"/>
              </a:spcAft>
              <a:buSzPct val="100000"/>
              <a:buChar char="•"/>
            </a:pPr>
            <a:r>
              <a:rPr lang="en-US" sz="2800" dirty="0">
                <a:solidFill>
                  <a:schemeClr val="tx1"/>
                </a:solidFill>
              </a:rPr>
              <a:t>All poster content must be written in English.</a:t>
            </a:r>
            <a:br>
              <a:rPr dirty="0"/>
            </a:br>
            <a:r>
              <a:rPr lang="en-US" sz="2600" dirty="0">
                <a:solidFill>
                  <a:schemeClr val="tx2"/>
                </a:solidFill>
                <a:latin typeface="Microsoft JhengHei" pitchFamily="34" charset="0"/>
                <a:ea typeface="Microsoft JhengHei" pitchFamily="34" charset="-122"/>
                <a:cs typeface="Microsoft JhengHei" pitchFamily="34" charset="-120"/>
              </a:rPr>
              <a:t>海報內容一律使用英文。</a:t>
            </a:r>
            <a:endParaRPr lang="en-US" sz="2800" dirty="0"/>
          </a:p>
        </p:txBody>
      </p:sp>
      <p:sp>
        <p:nvSpPr>
          <p:cNvPr id="9" name="2. Recommended Font Sizes card"/>
          <p:cNvSpPr/>
          <p:nvPr/>
        </p:nvSpPr>
        <p:spPr>
          <a:xfrm>
            <a:off x="731520" y="13075920"/>
            <a:ext cx="19924776" cy="7132320"/>
          </a:xfrm>
          <a:prstGeom prst="roundRect">
            <a:avLst>
              <a:gd name="adj" fmla="val 2564"/>
            </a:avLst>
          </a:prstGeom>
          <a:solidFill>
            <a:schemeClr val="bg2"/>
          </a:solidFill>
          <a:ln/>
        </p:spPr>
        <p:txBody>
          <a:bodyPr/>
          <a:lstStyle/>
          <a:p>
            <a:endParaRPr lang="zh-TW" altLang="en-US"/>
          </a:p>
        </p:txBody>
      </p:sp>
      <p:sp>
        <p:nvSpPr>
          <p:cNvPr id="10" name="2. Recommended Font Sizes marker"/>
          <p:cNvSpPr/>
          <p:nvPr/>
        </p:nvSpPr>
        <p:spPr>
          <a:xfrm>
            <a:off x="1188720" y="13551408"/>
            <a:ext cx="411480" cy="411480"/>
          </a:xfrm>
          <a:prstGeom prst="ellipse">
            <a:avLst/>
          </a:prstGeom>
          <a:solidFill>
            <a:schemeClr val="accent2"/>
          </a:solidFill>
          <a:ln/>
        </p:spPr>
        <p:txBody>
          <a:bodyPr/>
          <a:lstStyle/>
          <a:p>
            <a:endParaRPr lang="zh-TW" altLang="en-US"/>
          </a:p>
        </p:txBody>
      </p:sp>
      <p:sp>
        <p:nvSpPr>
          <p:cNvPr id="11" name="2. Recommended Font Sizes heading"/>
          <p:cNvSpPr txBox="1"/>
          <p:nvPr/>
        </p:nvSpPr>
        <p:spPr>
          <a:xfrm>
            <a:off x="1828800" y="13350240"/>
            <a:ext cx="18278856" cy="822960"/>
          </a:xfrm>
          <a:prstGeom prst="rect">
            <a:avLst/>
          </a:prstGeom>
          <a:noFill/>
          <a:ln/>
        </p:spPr>
        <p:txBody>
          <a:bodyPr wrap="square" lIns="0" tIns="0" rIns="0" bIns="0" rtlCol="0" anchor="ctr"/>
          <a:lstStyle/>
          <a:p>
            <a:pPr marL="0" indent="0">
              <a:buNone/>
            </a:pPr>
            <a:r>
              <a:rPr lang="en-US" sz="4200" b="1" dirty="0">
                <a:solidFill>
                  <a:schemeClr val="accent1"/>
                </a:solidFill>
              </a:rPr>
              <a:t>2. Recommended Font Sizes｜</a:t>
            </a:r>
            <a:r>
              <a:rPr lang="en-US" sz="4200" b="1" dirty="0">
                <a:solidFill>
                  <a:schemeClr val="accent1"/>
                </a:solidFill>
                <a:latin typeface="Microsoft JhengHei" pitchFamily="34" charset="0"/>
                <a:ea typeface="Microsoft JhengHei" pitchFamily="34" charset="-122"/>
                <a:cs typeface="Microsoft JhengHei" pitchFamily="34" charset="-120"/>
              </a:rPr>
              <a:t>建議字級</a:t>
            </a:r>
            <a:endParaRPr lang="en-US" sz="4200" dirty="0"/>
          </a:p>
        </p:txBody>
      </p:sp>
      <p:sp>
        <p:nvSpPr>
          <p:cNvPr id="12" name="2. Recommended Font Sizes text"/>
          <p:cNvSpPr txBox="1"/>
          <p:nvPr/>
        </p:nvSpPr>
        <p:spPr>
          <a:xfrm>
            <a:off x="1371600" y="14447520"/>
            <a:ext cx="18644616" cy="5486400"/>
          </a:xfrm>
          <a:prstGeom prst="rect">
            <a:avLst/>
          </a:prstGeom>
          <a:noFill/>
          <a:ln/>
        </p:spPr>
        <p:txBody>
          <a:bodyPr wrap="square" lIns="0" tIns="0" rIns="0" bIns="0" rtlCol="0" anchor="t"/>
          <a:lstStyle/>
          <a:p>
            <a:pPr marL="355600" indent="-355600">
              <a:spcAft>
                <a:spcPts val="1800"/>
              </a:spcAft>
              <a:buSzPct val="100000"/>
              <a:buChar char="•"/>
            </a:pPr>
            <a:r>
              <a:rPr lang="en-US" sz="2800" dirty="0">
                <a:solidFill>
                  <a:schemeClr val="tx1"/>
                </a:solidFill>
              </a:rPr>
              <a:t>Title: 60 to 80 pt, bold</a:t>
            </a:r>
            <a:br/>
            <a:r>
              <a:rPr lang="en-US" sz="2600" dirty="0">
                <a:solidFill>
                  <a:schemeClr val="tx2"/>
                </a:solidFill>
                <a:latin typeface="Microsoft JhengHei" pitchFamily="34" charset="0"/>
                <a:ea typeface="Microsoft JhengHei" pitchFamily="34" charset="-122"/>
                <a:cs typeface="Microsoft JhengHei" pitchFamily="34" charset="-120"/>
              </a:rPr>
              <a:t>標題 60 至 80 pt，粗體</a:t>
            </a:r>
            <a:endParaRPr lang="en-US" sz="2800" dirty="0"/>
          </a:p>
          <a:p>
            <a:pPr marL="355600" indent="-355600">
              <a:spcAft>
                <a:spcPts val="1800"/>
              </a:spcAft>
              <a:buSzPct val="100000"/>
              <a:buChar char="•"/>
            </a:pPr>
            <a:r>
              <a:rPr lang="en-US" sz="2800" dirty="0">
                <a:solidFill>
                  <a:schemeClr val="tx1"/>
                </a:solidFill>
              </a:rPr>
              <a:t>Authors: 28 to 32 pt; affiliations: 20 to 24 pt</a:t>
            </a:r>
            <a:br/>
            <a:r>
              <a:rPr lang="en-US" sz="2600" dirty="0">
                <a:solidFill>
                  <a:schemeClr val="tx2"/>
                </a:solidFill>
                <a:latin typeface="Microsoft JhengHei" pitchFamily="34" charset="0"/>
                <a:ea typeface="Microsoft JhengHei" pitchFamily="34" charset="-122"/>
                <a:cs typeface="Microsoft JhengHei" pitchFamily="34" charset="-120"/>
              </a:rPr>
              <a:t>作者 28 至 32 pt，服務單位 20 至 24 pt</a:t>
            </a:r>
            <a:endParaRPr lang="en-US" sz="2800" dirty="0"/>
          </a:p>
          <a:p>
            <a:pPr marL="355600" indent="-355600">
              <a:spcAft>
                <a:spcPts val="1800"/>
              </a:spcAft>
              <a:buSzPct val="100000"/>
              <a:buChar char="•"/>
            </a:pPr>
            <a:r>
              <a:rPr lang="en-US" sz="2800" dirty="0">
                <a:solidFill>
                  <a:schemeClr val="tx1"/>
                </a:solidFill>
              </a:rPr>
              <a:t>Section headings: 36 to 44 pt</a:t>
            </a:r>
            <a:br/>
            <a:r>
              <a:rPr lang="en-US" sz="2600" dirty="0">
                <a:solidFill>
                  <a:schemeClr val="tx2"/>
                </a:solidFill>
                <a:latin typeface="Microsoft JhengHei" pitchFamily="34" charset="0"/>
                <a:ea typeface="Microsoft JhengHei" pitchFamily="34" charset="-122"/>
                <a:cs typeface="Microsoft JhengHei" pitchFamily="34" charset="-120"/>
              </a:rPr>
              <a:t>段落標題 36 至 44 pt</a:t>
            </a:r>
            <a:endParaRPr lang="en-US" sz="2800" dirty="0"/>
          </a:p>
          <a:p>
            <a:pPr marL="355600" indent="-355600">
              <a:spcAft>
                <a:spcPts val="1800"/>
              </a:spcAft>
              <a:buSzPct val="100000"/>
              <a:buChar char="•"/>
            </a:pPr>
            <a:r>
              <a:rPr lang="en-US" sz="2800" dirty="0">
                <a:solidFill>
                  <a:schemeClr val="tx1"/>
                </a:solidFill>
              </a:rPr>
              <a:t>Body text: 24 pt or larger; captions and references: 18 to 20 pt</a:t>
            </a:r>
            <a:br/>
            <a:r>
              <a:rPr lang="en-US" sz="2600" dirty="0">
                <a:solidFill>
                  <a:schemeClr val="tx2"/>
                </a:solidFill>
                <a:latin typeface="Microsoft JhengHei" pitchFamily="34" charset="0"/>
                <a:ea typeface="Microsoft JhengHei" pitchFamily="34" charset="-122"/>
                <a:cs typeface="Microsoft JhengHei" pitchFamily="34" charset="-120"/>
              </a:rPr>
              <a:t>內文 24 pt 以上，圖說與參考文獻 18 至 20 pt</a:t>
            </a:r>
            <a:endParaRPr lang="en-US" sz="2800" dirty="0"/>
          </a:p>
          <a:p>
            <a:pPr marL="355600" indent="-355600">
              <a:spcAft>
                <a:spcPts val="1800"/>
              </a:spcAft>
              <a:buSzPct val="100000"/>
              <a:buChar char="•"/>
            </a:pPr>
            <a:r>
              <a:rPr lang="en-US" sz="2800" dirty="0">
                <a:solidFill>
                  <a:schemeClr val="tx1"/>
                </a:solidFill>
              </a:rPr>
              <a:t>Sans-serif fonts such as Arial or Calibri are recommended.</a:t>
            </a:r>
            <a:br/>
            <a:r>
              <a:rPr lang="en-US" sz="2600" dirty="0">
                <a:solidFill>
                  <a:schemeClr val="tx2"/>
                </a:solidFill>
                <a:latin typeface="Microsoft JhengHei" pitchFamily="34" charset="0"/>
                <a:ea typeface="Microsoft JhengHei" pitchFamily="34" charset="-122"/>
                <a:cs typeface="Microsoft JhengHei" pitchFamily="34" charset="-120"/>
              </a:rPr>
              <a:t>建議使用 Arial 或 Calibri 等無襯線字體。</a:t>
            </a:r>
            <a:endParaRPr lang="en-US" sz="2800" dirty="0"/>
          </a:p>
        </p:txBody>
      </p:sp>
      <p:sp>
        <p:nvSpPr>
          <p:cNvPr id="13" name="3. Figures and Printing card"/>
          <p:cNvSpPr/>
          <p:nvPr/>
        </p:nvSpPr>
        <p:spPr>
          <a:xfrm>
            <a:off x="731520" y="20756880"/>
            <a:ext cx="19924776" cy="4937760"/>
          </a:xfrm>
          <a:prstGeom prst="roundRect">
            <a:avLst>
              <a:gd name="adj" fmla="val 3704"/>
            </a:avLst>
          </a:prstGeom>
          <a:solidFill>
            <a:schemeClr val="bg2"/>
          </a:solidFill>
          <a:ln/>
        </p:spPr>
        <p:txBody>
          <a:bodyPr/>
          <a:lstStyle/>
          <a:p>
            <a:endParaRPr lang="zh-TW" altLang="en-US"/>
          </a:p>
        </p:txBody>
      </p:sp>
      <p:sp>
        <p:nvSpPr>
          <p:cNvPr id="14" name="3. Figures and Printing marker"/>
          <p:cNvSpPr/>
          <p:nvPr/>
        </p:nvSpPr>
        <p:spPr>
          <a:xfrm>
            <a:off x="1188720" y="21232368"/>
            <a:ext cx="411480" cy="411480"/>
          </a:xfrm>
          <a:prstGeom prst="ellipse">
            <a:avLst/>
          </a:prstGeom>
          <a:solidFill>
            <a:schemeClr val="accent2"/>
          </a:solidFill>
          <a:ln/>
        </p:spPr>
        <p:txBody>
          <a:bodyPr/>
          <a:lstStyle/>
          <a:p>
            <a:endParaRPr lang="zh-TW" altLang="en-US"/>
          </a:p>
        </p:txBody>
      </p:sp>
      <p:sp>
        <p:nvSpPr>
          <p:cNvPr id="15" name="3. Figures and Printing heading"/>
          <p:cNvSpPr txBox="1"/>
          <p:nvPr/>
        </p:nvSpPr>
        <p:spPr>
          <a:xfrm>
            <a:off x="1828800" y="21031200"/>
            <a:ext cx="18278856" cy="822960"/>
          </a:xfrm>
          <a:prstGeom prst="rect">
            <a:avLst/>
          </a:prstGeom>
          <a:noFill/>
          <a:ln/>
        </p:spPr>
        <p:txBody>
          <a:bodyPr wrap="square" lIns="0" tIns="0" rIns="0" bIns="0" rtlCol="0" anchor="ctr"/>
          <a:lstStyle/>
          <a:p>
            <a:pPr marL="0" indent="0">
              <a:buNone/>
            </a:pPr>
            <a:r>
              <a:rPr lang="en-US" sz="4200" b="1" dirty="0">
                <a:solidFill>
                  <a:schemeClr val="accent1"/>
                </a:solidFill>
              </a:rPr>
              <a:t>3. Figures and Printing｜</a:t>
            </a:r>
            <a:r>
              <a:rPr lang="en-US" sz="4200" b="1" dirty="0">
                <a:solidFill>
                  <a:schemeClr val="accent1"/>
                </a:solidFill>
                <a:latin typeface="Microsoft JhengHei" pitchFamily="34" charset="0"/>
                <a:ea typeface="Microsoft JhengHei" pitchFamily="34" charset="-122"/>
                <a:cs typeface="Microsoft JhengHei" pitchFamily="34" charset="-120"/>
              </a:rPr>
              <a:t>圖片與列印</a:t>
            </a:r>
            <a:endParaRPr lang="en-US" sz="4200" dirty="0"/>
          </a:p>
        </p:txBody>
      </p:sp>
      <p:sp>
        <p:nvSpPr>
          <p:cNvPr id="16" name="3. Figures and Printing text"/>
          <p:cNvSpPr txBox="1"/>
          <p:nvPr/>
        </p:nvSpPr>
        <p:spPr>
          <a:xfrm>
            <a:off x="1371600" y="22128480"/>
            <a:ext cx="18644616" cy="3291840"/>
          </a:xfrm>
          <a:prstGeom prst="rect">
            <a:avLst/>
          </a:prstGeom>
          <a:noFill/>
          <a:ln/>
        </p:spPr>
        <p:txBody>
          <a:bodyPr wrap="square" lIns="0" tIns="0" rIns="0" bIns="0" rtlCol="0" anchor="t"/>
          <a:lstStyle/>
          <a:p>
            <a:pPr marL="355600" indent="-355600">
              <a:spcAft>
                <a:spcPts val="1800"/>
              </a:spcAft>
              <a:buSzPct val="100000"/>
              <a:buChar char="•"/>
            </a:pPr>
            <a:r>
              <a:rPr lang="en-US" sz="2800" dirty="0">
                <a:solidFill>
                  <a:schemeClr val="tx1"/>
                </a:solidFill>
              </a:rPr>
              <a:t>Use images at 300 dpi or higher at final print size.</a:t>
            </a:r>
            <a:br/>
            <a:r>
              <a:rPr lang="en-US" sz="2600" dirty="0">
                <a:solidFill>
                  <a:schemeClr val="tx2"/>
                </a:solidFill>
                <a:latin typeface="Microsoft JhengHei" pitchFamily="34" charset="0"/>
                <a:ea typeface="Microsoft JhengHei" pitchFamily="34" charset="-122"/>
                <a:cs typeface="Microsoft JhengHei" pitchFamily="34" charset="-120"/>
              </a:rPr>
              <a:t>圖片於實際列印尺寸下，解析度應達 300 dpi 以上。</a:t>
            </a:r>
            <a:endParaRPr lang="en-US" sz="2800" dirty="0"/>
          </a:p>
          <a:p>
            <a:pPr marL="355600" indent="-355600">
              <a:spcAft>
                <a:spcPts val="1800"/>
              </a:spcAft>
              <a:buSzPct val="100000"/>
              <a:buChar char="•"/>
            </a:pPr>
            <a:r>
              <a:rPr lang="en-US" sz="2800" dirty="0">
                <a:solidFill>
                  <a:schemeClr val="tx1"/>
                </a:solidFill>
              </a:rPr>
              <a:t>Ensure sufficient color contrast. Avoid using red and green as the only way to distinguish data.</a:t>
            </a:r>
            <a:br/>
            <a:r>
              <a:rPr lang="en-US" sz="2600" dirty="0">
                <a:solidFill>
                  <a:schemeClr val="tx2"/>
                </a:solidFill>
                <a:latin typeface="Microsoft JhengHei" pitchFamily="34" charset="0"/>
                <a:ea typeface="Microsoft JhengHei" pitchFamily="34" charset="-122"/>
                <a:cs typeface="Microsoft JhengHei" pitchFamily="34" charset="-120"/>
              </a:rPr>
              <a:t>請注意顏色對比，避免僅以紅色與綠色區分資料。</a:t>
            </a:r>
            <a:endParaRPr lang="en-US" sz="2800" dirty="0"/>
          </a:p>
          <a:p>
            <a:pPr marL="355600" indent="-355600">
              <a:spcAft>
                <a:spcPts val="1800"/>
              </a:spcAft>
              <a:buSzPct val="100000"/>
              <a:buChar char="•"/>
            </a:pPr>
            <a:r>
              <a:rPr lang="en-US" sz="2800" dirty="0">
                <a:solidFill>
                  <a:schemeClr val="tx1"/>
                </a:solidFill>
              </a:rPr>
              <a:t>Export the poster as a PDF with fonts embedded before printing.</a:t>
            </a:r>
            <a:br/>
            <a:r>
              <a:rPr lang="en-US" sz="2600" dirty="0">
                <a:solidFill>
                  <a:schemeClr val="tx2"/>
                </a:solidFill>
                <a:latin typeface="Microsoft JhengHei" pitchFamily="34" charset="0"/>
                <a:ea typeface="Microsoft JhengHei" pitchFamily="34" charset="-122"/>
                <a:cs typeface="Microsoft JhengHei" pitchFamily="34" charset="-120"/>
              </a:rPr>
              <a:t>列印前請將海報輸出為 PDF 檔，並內嵌字型。</a:t>
            </a:r>
            <a:endParaRPr lang="en-US" sz="2800" dirty="0"/>
          </a:p>
        </p:txBody>
      </p:sp>
    </p:spTree>
  </p:cSld>
  <p:clrMapOvr>
    <a:masterClrMapping/>
  </p:clrMapOvr>
</p:sld>
</file>

<file path=ppt/theme/theme1.xml><?xml version="1.0" encoding="utf-8"?>
<a:theme xmlns:a="http://schemas.openxmlformats.org/drawingml/2006/main" name="TPMIC Poster">
  <a:themeElements>
    <a:clrScheme name="TPMIC Poster">
      <a:dk1>
        <a:srgbClr val="1F2A30"/>
      </a:dk1>
      <a:lt1>
        <a:srgbClr val="FFFFFF"/>
      </a:lt1>
      <a:dk2>
        <a:srgbClr val="1D4E56"/>
      </a:dk2>
      <a:lt2>
        <a:srgbClr val="EEF4F3"/>
      </a:lt2>
      <a:accent1>
        <a:srgbClr val="1D4E56"/>
      </a:accent1>
      <a:accent2>
        <a:srgbClr val="6E9B87"/>
      </a:accent2>
      <a:accent3>
        <a:srgbClr val="5E8C7E"/>
      </a:accent3>
      <a:accent4>
        <a:srgbClr val="8A9BA3"/>
      </a:accent4>
      <a:accent5>
        <a:srgbClr val="D9E6E3"/>
      </a:accent5>
      <a:accent6>
        <a:srgbClr val="F6E7DC"/>
      </a:accent6>
      <a:hlink>
        <a:srgbClr val="1D4E56"/>
      </a:hlink>
      <a:folHlink>
        <a:srgbClr val="5E8C7E"/>
      </a:folHlink>
    </a:clrScheme>
    <a:fontScheme name="TPMIC Post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776</Words>
  <Application>Microsoft Office PowerPoint</Application>
  <PresentationFormat>自訂</PresentationFormat>
  <Paragraphs>67</Paragraphs>
  <Slides>2</Slides>
  <Notes>2</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2</vt:i4>
      </vt:variant>
    </vt:vector>
  </HeadingPairs>
  <TitlesOfParts>
    <vt:vector size="5" baseType="lpstr">
      <vt:lpstr>Microsoft JhengHei</vt:lpstr>
      <vt:lpstr>Arial</vt:lpstr>
      <vt:lpstr>TPMIC Poster</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TPMIC 2026 Poster Template (A1)</dc:title>
  <dc:subject>PptxGenJS Presentation</dc:subject>
  <dc:creator>FEMH TPMIC Symposium Organizing Committee</dc:creator>
  <cp:lastModifiedBy>Andrea Lin</cp:lastModifiedBy>
  <cp:revision>2</cp:revision>
  <dcterms:created xsi:type="dcterms:W3CDTF">2026-10-13T03:07:46Z</dcterms:created>
  <dcterms:modified xsi:type="dcterms:W3CDTF">2026-10-13T03:15:45Z</dcterms:modified>
</cp:coreProperties>
</file>